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本页总结2026年9月29日至9月30日的阶段进展。本周只汇报粗定位和正视反馈，不把保留在代码中的严格精定位实现写成当前完成项。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数据来自 outputs/perception/eval/slot_opening_v1/metrics.json：16张验证图像、16个真值实例、15个匹配实例、19个预测实例，检出率0.9375，匹配框平均IoU 0.8672，平均中心误差7.115像素。预测拼图来自同目录predictions.png。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本页只说明粗定位后的相机姿态调整。框外深度平面法向提供pitch/yaw，框内Hough长边提供roll。实现位于 huanpan_perception/front_view.py。离线样例来自 capture_00035.png 的诊断图。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本页解释IPPE/PnP的原理和本周实验取舍，不展示后续严格精定位结果。当前粗姿态调整已移除粗四边形IPPE，原因是错误物理边界仍可能得到较低重投影误差，并增加明显计算量。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嵌入视频来源：/home/lzt/视频/Peek 2026-09-30 14-01.mp4，时长21.3257秒，分辨率1276×692，25帧每秒。视频展示黄色YOLO粗框、姿态状态与旋转反馈，不包含绿色精定位结果。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下一阶段顺序保持明确：先稳定正视反馈，再调整严格精定位，之后固定D435、做手眼标定并上实物。当前PPT不把精定位处理或实物闭环写成已完成。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/>
      <p:sp>
        <p:nvSpPr>
          <p:cNvPr id="2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尾页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jpe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microsoft.com/office/2007/relationships/media" Target="../media/media1.mp4"/><Relationship Id="rId3" Type="http://schemas.openxmlformats.org/officeDocument/2006/relationships/video" Target="../media/media1.mp4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椭圆 3"/>
          <p:cNvSpPr>
            <a:spLocks noGrp="1"/>
          </p:cNvSpPr>
          <p:nvPr/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0070C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0" y="6750685"/>
            <a:ext cx="12192000" cy="114300"/>
          </a:xfrm>
          <a:prstGeom prst="rect">
            <a:avLst/>
          </a:prstGeom>
          <a:gradFill>
            <a:gsLst>
              <a:gs pos="0">
                <a:srgbClr val="002060">
                  <a:alpha val="23000"/>
                </a:srgbClr>
              </a:gs>
              <a:gs pos="100000">
                <a:srgbClr val="002060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9" name="椭圆 58"/>
          <p:cNvSpPr>
            <a:spLocks noGrp="1"/>
          </p:cNvSpPr>
          <p:nvPr/>
        </p:nvSpPr>
        <p:spPr>
          <a:xfrm>
            <a:off x="4192770" y="2411043"/>
            <a:ext cx="2344420" cy="2344420"/>
          </a:xfrm>
          <a:prstGeom prst="ellipse">
            <a:avLst/>
          </a:prstGeom>
          <a:solidFill>
            <a:srgbClr val="0070C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5" name="平行四边形 4"/>
          <p:cNvSpPr>
            <a:spLocks noGrp="1"/>
          </p:cNvSpPr>
          <p:nvPr/>
        </p:nvSpPr>
        <p:spPr>
          <a:xfrm rot="16200000">
            <a:off x="831215" y="316865"/>
            <a:ext cx="933450" cy="299720"/>
          </a:xfrm>
          <a:prstGeom prst="parallelogram">
            <a:avLst>
              <a:gd name="adj" fmla="val 76588"/>
            </a:avLst>
          </a:prstGeom>
          <a:solidFill>
            <a:srgbClr val="003B9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" name="平行四边形 6"/>
          <p:cNvSpPr>
            <a:spLocks noGrp="1"/>
          </p:cNvSpPr>
          <p:nvPr/>
        </p:nvSpPr>
        <p:spPr>
          <a:xfrm rot="20760000">
            <a:off x="-97790" y="149225"/>
            <a:ext cx="1352550" cy="675640"/>
          </a:xfrm>
          <a:prstGeom prst="parallelogram">
            <a:avLst/>
          </a:prstGeom>
          <a:gradFill>
            <a:gsLst>
              <a:gs pos="100000">
                <a:srgbClr val="003B90"/>
              </a:gs>
              <a:gs pos="0">
                <a:srgbClr val="003B90">
                  <a:alpha val="44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438275" y="224790"/>
            <a:ext cx="10763885" cy="702310"/>
          </a:xfrm>
          <a:prstGeom prst="rect">
            <a:avLst/>
          </a:prstGeom>
          <a:gradFill>
            <a:gsLst>
              <a:gs pos="16000">
                <a:srgbClr val="003B90"/>
              </a:gs>
              <a:gs pos="100000">
                <a:srgbClr val="0070C0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6" name="文本框 17"/>
          <p:cNvSpPr>
            <a:spLocks noGrp="1"/>
          </p:cNvSpPr>
          <p:nvPr/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normAutofit/>
          </a:bodyPr>
          <a:lstStyle/>
          <a:p>
            <a:pPr algn="ctr">
              <a:buNone/>
              <a:defRPr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3600" b="1">
              <a:solidFill>
                <a:schemeClr val="bg1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9" name="文本框 18"/>
          <p:cNvSpPr>
            <a:spLocks noGrp="1"/>
          </p:cNvSpPr>
          <p:nvPr/>
        </p:nvSpPr>
        <p:spPr>
          <a:xfrm>
            <a:off x="1530349" y="317500"/>
            <a:ext cx="7955483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服务器换硬盘机器人项目进展汇报</a:t>
            </a:r>
            <a:endParaRPr sz="2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18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0605" y="317500"/>
            <a:ext cx="506095" cy="506095"/>
          </a:xfrm>
          <a:prstGeom prst="rect">
            <a:avLst/>
          </a:prstGeom>
        </p:spPr>
      </p:pic>
      <p:pic>
        <p:nvPicPr>
          <p:cNvPr id="219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8930" y="385445"/>
            <a:ext cx="1529715" cy="361315"/>
          </a:xfrm>
          <a:prstGeom prst="rect">
            <a:avLst/>
          </a:prstGeom>
        </p:spPr>
      </p:pic>
      <p:sp>
        <p:nvSpPr>
          <p:cNvPr id="32" name="矩形 31"/>
          <p:cNvSpPr>
            <a:spLocks noGrp="1"/>
          </p:cNvSpPr>
          <p:nvPr/>
        </p:nvSpPr>
        <p:spPr>
          <a:xfrm>
            <a:off x="-10160" y="978535"/>
            <a:ext cx="12202160" cy="1012825"/>
          </a:xfrm>
          <a:prstGeom prst="rect">
            <a:avLst/>
          </a:prstGeom>
          <a:gradFill>
            <a:gsLst>
              <a:gs pos="71000">
                <a:srgbClr val="0070C0"/>
              </a:gs>
              <a:gs pos="24000">
                <a:srgbClr val="003B90"/>
              </a:gs>
            </a:gsLst>
            <a:lin ang="2700000" scaled="0"/>
          </a:gra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AutoShape 6"/>
          <p:cNvSpPr>
            <a:spLocks noGrp="1"/>
          </p:cNvSpPr>
          <p:nvPr/>
        </p:nvSpPr>
        <p:spPr>
          <a:xfrm>
            <a:off x="85725" y="1016635"/>
            <a:ext cx="12018883" cy="900430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 w="12700" cmpd="sng">
            <a:solidFill>
              <a:srgbClr val="FFC107">
                <a:alpha val="3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>
              <a:buNone/>
            </a:pP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本周重点：粗定位与相机正视反馈</a:t>
            </a:r>
            <a:endParaRPr sz="2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矩形: 圆角 26"/>
          <p:cNvSpPr>
            <a:spLocks noGrp="1"/>
          </p:cNvSpPr>
          <p:nvPr/>
        </p:nvSpPr>
        <p:spPr>
          <a:xfrm>
            <a:off x="726393" y="2137080"/>
            <a:ext cx="10769470" cy="4539310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sp>
        <p:nvSpPr>
          <p:cNvPr id="184" name="矩形 183"/>
          <p:cNvSpPr>
            <a:spLocks noGrp="1"/>
          </p:cNvSpPr>
          <p:nvPr/>
        </p:nvSpPr>
        <p:spPr>
          <a:xfrm>
            <a:off x="1066800" y="2381250"/>
            <a:ext cx="93345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114000"/>
              </a:lnSpc>
              <a:buNone/>
              <a:defRPr sz="131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31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本周将视觉链路拆成两个阶段：先用粗定位完成相机姿态调整，正视稳定后再进入精定位。</a:t>
            </a:r>
            <a:endParaRPr sz="1315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5" name="圆角矩形 184"/>
          <p:cNvSpPr>
            <a:spLocks noGrp="1"/>
          </p:cNvSpPr>
          <p:nvPr/>
        </p:nvSpPr>
        <p:spPr>
          <a:xfrm>
            <a:off x="1028700" y="2952750"/>
            <a:ext cx="2019300" cy="1352550"/>
          </a:xfrm>
          <a:prstGeom prst="roundRect">
            <a:avLst>
              <a:gd name="adj" fmla="val 8451"/>
            </a:avLst>
          </a:prstGeom>
          <a:solidFill>
            <a:srgbClr val="F5F9FC"/>
          </a:solidFill>
          <a:ln w="9525">
            <a:solidFill>
              <a:srgbClr val="C9D8E4"/>
            </a:solidFill>
            <a:prstDash val="solid"/>
          </a:ln>
        </p:spPr>
      </p:sp>
      <p:sp>
        <p:nvSpPr>
          <p:cNvPr id="186" name="矩形 185"/>
          <p:cNvSpPr>
            <a:spLocks noGrp="1"/>
          </p:cNvSpPr>
          <p:nvPr/>
        </p:nvSpPr>
        <p:spPr>
          <a:xfrm>
            <a:off x="1028700" y="2952750"/>
            <a:ext cx="2019300" cy="47625"/>
          </a:xfrm>
          <a:prstGeom prst="rect">
            <a:avLst/>
          </a:prstGeom>
          <a:solidFill>
            <a:srgbClr val="22A9D6"/>
          </a:solidFill>
          <a:ln w="0">
            <a:noFill/>
          </a:ln>
        </p:spPr>
      </p:sp>
      <p:sp>
        <p:nvSpPr>
          <p:cNvPr id="187" name="矩形 186"/>
          <p:cNvSpPr>
            <a:spLocks noGrp="1"/>
          </p:cNvSpPr>
          <p:nvPr/>
        </p:nvSpPr>
        <p:spPr>
          <a:xfrm>
            <a:off x="1181100" y="31242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114000"/>
              </a:lnSpc>
              <a:buNone/>
              <a:defRPr sz="12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D435输入</a:t>
            </a:r>
            <a:endParaRPr sz="1275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8" name="矩形 187"/>
          <p:cNvSpPr>
            <a:spLocks noGrp="1"/>
          </p:cNvSpPr>
          <p:nvPr/>
        </p:nvSpPr>
        <p:spPr>
          <a:xfrm>
            <a:off x="1181100" y="3457575"/>
            <a:ext cx="17145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16000"/>
              </a:lnSpc>
              <a:buNone/>
              <a:defRPr sz="103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defRPr>
            </a:pPr>
            <a:r>
              <a:rPr sz="103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rPr>
              <a:t>RGB、对齐深度</a:t>
            </a:r>
            <a:endParaRPr sz="1035" b="0">
              <a:solidFill>
                <a:srgbClr val="3F586A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16000"/>
              </a:lnSpc>
              <a:buNone/>
              <a:defRPr sz="103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defRPr>
            </a:pPr>
            <a:r>
              <a:rPr sz="103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rPr>
              <a:t>CameraInfo</a:t>
            </a:r>
            <a:endParaRPr sz="1035" b="0">
              <a:solidFill>
                <a:srgbClr val="3F586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9" name="圆角矩形 188"/>
          <p:cNvSpPr>
            <a:spLocks noGrp="1"/>
          </p:cNvSpPr>
          <p:nvPr/>
        </p:nvSpPr>
        <p:spPr>
          <a:xfrm>
            <a:off x="3409950" y="2952750"/>
            <a:ext cx="2019300" cy="1352550"/>
          </a:xfrm>
          <a:prstGeom prst="roundRect">
            <a:avLst>
              <a:gd name="adj" fmla="val 8451"/>
            </a:avLst>
          </a:prstGeom>
          <a:solidFill>
            <a:srgbClr val="F5F9FC"/>
          </a:solidFill>
          <a:ln w="9525">
            <a:solidFill>
              <a:srgbClr val="C9D8E4"/>
            </a:solidFill>
            <a:prstDash val="solid"/>
          </a:ln>
        </p:spPr>
      </p:sp>
      <p:sp>
        <p:nvSpPr>
          <p:cNvPr id="190" name="矩形 189"/>
          <p:cNvSpPr>
            <a:spLocks noGrp="1"/>
          </p:cNvSpPr>
          <p:nvPr/>
        </p:nvSpPr>
        <p:spPr>
          <a:xfrm>
            <a:off x="3409950" y="2952750"/>
            <a:ext cx="2019300" cy="47625"/>
          </a:xfrm>
          <a:prstGeom prst="rect">
            <a:avLst/>
          </a:prstGeom>
          <a:solidFill>
            <a:srgbClr val="1D84C5"/>
          </a:solidFill>
          <a:ln w="0">
            <a:noFill/>
          </a:ln>
        </p:spPr>
      </p:sp>
      <p:sp>
        <p:nvSpPr>
          <p:cNvPr id="191" name="矩形 190"/>
          <p:cNvSpPr>
            <a:spLocks noGrp="1"/>
          </p:cNvSpPr>
          <p:nvPr/>
        </p:nvSpPr>
        <p:spPr>
          <a:xfrm>
            <a:off x="3562350" y="31242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114000"/>
              </a:lnSpc>
              <a:buNone/>
              <a:defRPr sz="12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YOLO粗定位</a:t>
            </a:r>
            <a:endParaRPr sz="1275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2" name="矩形 191"/>
          <p:cNvSpPr>
            <a:spLocks noGrp="1"/>
          </p:cNvSpPr>
          <p:nvPr/>
        </p:nvSpPr>
        <p:spPr>
          <a:xfrm>
            <a:off x="3562350" y="3457575"/>
            <a:ext cx="17145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16000"/>
              </a:lnSpc>
              <a:buNone/>
              <a:defRPr sz="103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defRPr>
            </a:pPr>
            <a:r>
              <a:rPr sz="103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rPr>
              <a:t>单槽口黄色ROI</a:t>
            </a:r>
            <a:endParaRPr sz="1035" b="0">
              <a:solidFill>
                <a:srgbClr val="3F586A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16000"/>
              </a:lnSpc>
              <a:buNone/>
              <a:defRPr sz="103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defRPr>
            </a:pPr>
            <a:r>
              <a:rPr sz="103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rPr>
              <a:t>定位大致区域</a:t>
            </a:r>
            <a:endParaRPr sz="1035" b="0">
              <a:solidFill>
                <a:srgbClr val="3F586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3" name="圆角矩形 192"/>
          <p:cNvSpPr>
            <a:spLocks noGrp="1"/>
          </p:cNvSpPr>
          <p:nvPr/>
        </p:nvSpPr>
        <p:spPr>
          <a:xfrm>
            <a:off x="5791200" y="2952750"/>
            <a:ext cx="2019300" cy="1352550"/>
          </a:xfrm>
          <a:prstGeom prst="roundRect">
            <a:avLst>
              <a:gd name="adj" fmla="val 8451"/>
            </a:avLst>
          </a:prstGeom>
          <a:solidFill>
            <a:srgbClr val="F5F9FC"/>
          </a:solidFill>
          <a:ln w="9525">
            <a:solidFill>
              <a:srgbClr val="C9D8E4"/>
            </a:solidFill>
            <a:prstDash val="solid"/>
          </a:ln>
        </p:spPr>
      </p:sp>
      <p:sp>
        <p:nvSpPr>
          <p:cNvPr id="194" name="矩形 193"/>
          <p:cNvSpPr>
            <a:spLocks noGrp="1"/>
          </p:cNvSpPr>
          <p:nvPr/>
        </p:nvSpPr>
        <p:spPr>
          <a:xfrm>
            <a:off x="5791200" y="2952750"/>
            <a:ext cx="2019300" cy="47625"/>
          </a:xfrm>
          <a:prstGeom prst="rect">
            <a:avLst/>
          </a:prstGeom>
          <a:solidFill>
            <a:srgbClr val="239B70"/>
          </a:solidFill>
          <a:ln w="0">
            <a:noFill/>
          </a:ln>
        </p:spPr>
      </p:sp>
      <p:sp>
        <p:nvSpPr>
          <p:cNvPr id="195" name="矩形 194"/>
          <p:cNvSpPr>
            <a:spLocks noGrp="1"/>
          </p:cNvSpPr>
          <p:nvPr/>
        </p:nvSpPr>
        <p:spPr>
          <a:xfrm>
            <a:off x="5943600" y="31242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114000"/>
              </a:lnSpc>
              <a:buNone/>
              <a:defRPr sz="12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正视姿态调整</a:t>
            </a:r>
            <a:endParaRPr sz="1275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6" name="矩形 195"/>
          <p:cNvSpPr>
            <a:spLocks noGrp="1"/>
          </p:cNvSpPr>
          <p:nvPr/>
        </p:nvSpPr>
        <p:spPr>
          <a:xfrm>
            <a:off x="5943600" y="3457575"/>
            <a:ext cx="17145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16000"/>
              </a:lnSpc>
              <a:buNone/>
              <a:defRPr sz="103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defRPr>
            </a:pPr>
            <a:r>
              <a:rPr sz="103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rPr>
              <a:t>深度平面估计倾角</a:t>
            </a:r>
            <a:endParaRPr sz="1035" b="0">
              <a:solidFill>
                <a:srgbClr val="3F586A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16000"/>
              </a:lnSpc>
              <a:buNone/>
              <a:defRPr sz="103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defRPr>
            </a:pPr>
            <a:r>
              <a:rPr sz="103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rPr>
              <a:t>Hough长边估计滚转</a:t>
            </a:r>
            <a:endParaRPr sz="1035" b="0">
              <a:solidFill>
                <a:srgbClr val="3F586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7" name="圆角矩形 196"/>
          <p:cNvSpPr>
            <a:spLocks noGrp="1"/>
          </p:cNvSpPr>
          <p:nvPr/>
        </p:nvSpPr>
        <p:spPr>
          <a:xfrm>
            <a:off x="8172450" y="2952750"/>
            <a:ext cx="2019300" cy="1352550"/>
          </a:xfrm>
          <a:prstGeom prst="roundRect">
            <a:avLst>
              <a:gd name="adj" fmla="val 8451"/>
            </a:avLst>
          </a:prstGeom>
          <a:solidFill>
            <a:srgbClr val="FFF1DF"/>
          </a:solidFill>
          <a:ln w="9525">
            <a:solidFill>
              <a:srgbClr val="F4C98E"/>
            </a:solidFill>
            <a:prstDash val="solid"/>
          </a:ln>
        </p:spPr>
      </p:sp>
      <p:sp>
        <p:nvSpPr>
          <p:cNvPr id="198" name="矩形 197"/>
          <p:cNvSpPr>
            <a:spLocks noGrp="1"/>
          </p:cNvSpPr>
          <p:nvPr/>
        </p:nvSpPr>
        <p:spPr>
          <a:xfrm>
            <a:off x="8172450" y="2952750"/>
            <a:ext cx="2019300" cy="47625"/>
          </a:xfrm>
          <a:prstGeom prst="rect">
            <a:avLst/>
          </a:prstGeom>
          <a:solidFill>
            <a:srgbClr val="E89332"/>
          </a:solidFill>
          <a:ln w="0">
            <a:noFill/>
          </a:ln>
        </p:spPr>
      </p:sp>
      <p:sp>
        <p:nvSpPr>
          <p:cNvPr id="199" name="矩形 198"/>
          <p:cNvSpPr>
            <a:spLocks noGrp="1"/>
          </p:cNvSpPr>
          <p:nvPr/>
        </p:nvSpPr>
        <p:spPr>
          <a:xfrm>
            <a:off x="8324850" y="312420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114000"/>
              </a:lnSpc>
              <a:buNone/>
              <a:defRPr sz="12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后续精定位</a:t>
            </a:r>
            <a:endParaRPr sz="1275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0" name="矩形 199"/>
          <p:cNvSpPr>
            <a:spLocks noGrp="1"/>
          </p:cNvSpPr>
          <p:nvPr/>
        </p:nvSpPr>
        <p:spPr>
          <a:xfrm>
            <a:off x="8324850" y="3457575"/>
            <a:ext cx="17145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16000"/>
              </a:lnSpc>
              <a:buNone/>
              <a:defRPr sz="103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defRPr>
            </a:pPr>
            <a:r>
              <a:rPr sz="103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rPr>
              <a:t>正视稳定后启用</a:t>
            </a:r>
            <a:endParaRPr sz="1035" b="0">
              <a:solidFill>
                <a:srgbClr val="3F586A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16000"/>
              </a:lnSpc>
              <a:buNone/>
              <a:defRPr sz="103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defRPr>
            </a:pPr>
            <a:r>
              <a:rPr sz="103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rPr>
              <a:t>本周暂不进入</a:t>
            </a:r>
            <a:endParaRPr sz="1035" b="0">
              <a:solidFill>
                <a:srgbClr val="3F586A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240" name="直接箭头连接符 239"/>
          <p:cNvCxnSpPr>
            <a:stCxn id="185" idx="3"/>
            <a:endCxn id="189" idx="1"/>
          </p:cNvCxnSpPr>
          <p:nvPr/>
        </p:nvCxnSpPr>
        <p:spPr>
          <a:xfrm>
            <a:off x="3048000" y="3629025"/>
            <a:ext cx="361950" cy="0"/>
          </a:xfrm>
          <a:prstGeom prst="straightConnector1">
            <a:avLst/>
          </a:prstGeom>
          <a:ln w="16193">
            <a:solidFill>
              <a:srgbClr val="1D84C5"/>
            </a:solidFill>
            <a:prstDash val="solid"/>
            <a:tailEnd type="triangle" w="sm" len="sm"/>
          </a:ln>
        </p:spPr>
      </p:cxnSp>
      <p:cxnSp>
        <p:nvCxnSpPr>
          <p:cNvPr id="241" name="直接箭头连接符 240"/>
          <p:cNvCxnSpPr>
            <a:stCxn id="189" idx="3"/>
            <a:endCxn id="193" idx="1"/>
          </p:cNvCxnSpPr>
          <p:nvPr/>
        </p:nvCxnSpPr>
        <p:spPr>
          <a:xfrm>
            <a:off x="5429250" y="3629025"/>
            <a:ext cx="361950" cy="0"/>
          </a:xfrm>
          <a:prstGeom prst="straightConnector1">
            <a:avLst/>
          </a:prstGeom>
          <a:ln w="16193">
            <a:solidFill>
              <a:srgbClr val="1D84C5"/>
            </a:solidFill>
            <a:prstDash val="solid"/>
            <a:tailEnd type="triangle" w="sm" len="sm"/>
          </a:ln>
        </p:spPr>
      </p:cxnSp>
      <p:cxnSp>
        <p:nvCxnSpPr>
          <p:cNvPr id="242" name="直接箭头连接符 241"/>
          <p:cNvCxnSpPr>
            <a:stCxn id="193" idx="3"/>
            <a:endCxn id="197" idx="1"/>
          </p:cNvCxnSpPr>
          <p:nvPr/>
        </p:nvCxnSpPr>
        <p:spPr>
          <a:xfrm>
            <a:off x="7810500" y="3629025"/>
            <a:ext cx="361950" cy="0"/>
          </a:xfrm>
          <a:prstGeom prst="straightConnector1">
            <a:avLst/>
          </a:prstGeom>
          <a:ln w="16193">
            <a:solidFill>
              <a:srgbClr val="E89332"/>
            </a:solidFill>
            <a:prstDash val="solid"/>
            <a:tailEnd type="triangle" w="sm" len="sm"/>
          </a:ln>
        </p:spPr>
      </p:cxnSp>
      <p:sp>
        <p:nvSpPr>
          <p:cNvPr id="204" name="矩形 203"/>
          <p:cNvSpPr>
            <a:spLocks noGrp="1"/>
          </p:cNvSpPr>
          <p:nvPr/>
        </p:nvSpPr>
        <p:spPr>
          <a:xfrm>
            <a:off x="1123950" y="4714875"/>
            <a:ext cx="1066800" cy="276225"/>
          </a:xfrm>
          <a:prstGeom prst="rect">
            <a:avLst/>
          </a:prstGeom>
          <a:solidFill>
            <a:srgbClr val="E8F5EF"/>
          </a:solidFill>
          <a:ln w="9525">
            <a:solidFill>
              <a:srgbClr val="239B70"/>
            </a:solidFill>
            <a:prstDash val="solid"/>
          </a:ln>
        </p:spPr>
        <p:txBody>
          <a:bodyPr lIns="47625" tIns="19050" rIns="47625" bIns="19050" anchor="ctr">
            <a:noAutofit/>
          </a:bodyPr>
          <a:lstStyle/>
          <a:p>
            <a:pPr algn="ctr">
              <a:lnSpc>
                <a:spcPct val="114000"/>
              </a:lnSpc>
              <a:buNone/>
              <a:defRPr sz="1015" b="1">
                <a:solidFill>
                  <a:srgbClr val="239B70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1">
                <a:solidFill>
                  <a:srgbClr val="239B70"/>
                </a:solidFill>
                <a:latin typeface="微软雅黑"/>
                <a:ea typeface="微软雅黑"/>
                <a:cs typeface="微软雅黑"/>
              </a:rPr>
              <a:t>本周完成</a:t>
            </a:r>
            <a:endParaRPr sz="1015" b="1">
              <a:solidFill>
                <a:srgbClr val="239B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5" name="矩形 204"/>
          <p:cNvSpPr>
            <a:spLocks noGrp="1"/>
          </p:cNvSpPr>
          <p:nvPr/>
        </p:nvSpPr>
        <p:spPr>
          <a:xfrm>
            <a:off x="2381250" y="4743450"/>
            <a:ext cx="80200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  <a:defRPr sz="116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16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单槽口模型重训、粗检测评估、深度平面与长边正视反馈、实机视频验证</a:t>
            </a:r>
            <a:endParaRPr sz="1165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6" name="矩形 205"/>
          <p:cNvSpPr>
            <a:spLocks noGrp="1"/>
          </p:cNvSpPr>
          <p:nvPr/>
        </p:nvSpPr>
        <p:spPr>
          <a:xfrm>
            <a:off x="1123950" y="5162550"/>
            <a:ext cx="1066800" cy="276225"/>
          </a:xfrm>
          <a:prstGeom prst="rect">
            <a:avLst/>
          </a:prstGeom>
          <a:solidFill>
            <a:srgbClr val="FFF1DF"/>
          </a:solidFill>
          <a:ln w="9525">
            <a:solidFill>
              <a:srgbClr val="E89332"/>
            </a:solidFill>
            <a:prstDash val="solid"/>
          </a:ln>
        </p:spPr>
        <p:txBody>
          <a:bodyPr lIns="47625" tIns="19050" rIns="47625" bIns="19050" anchor="ctr">
            <a:noAutofit/>
          </a:bodyPr>
          <a:lstStyle/>
          <a:p>
            <a:pPr algn="ctr">
              <a:lnSpc>
                <a:spcPct val="114000"/>
              </a:lnSpc>
              <a:buNone/>
              <a:defRPr sz="1015" b="1">
                <a:solidFill>
                  <a:srgbClr val="E89332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1">
                <a:solidFill>
                  <a:srgbClr val="E89332"/>
                </a:solidFill>
                <a:latin typeface="微软雅黑"/>
                <a:ea typeface="微软雅黑"/>
                <a:cs typeface="微软雅黑"/>
              </a:rPr>
              <a:t>范围边界</a:t>
            </a:r>
            <a:endParaRPr sz="1015" b="1">
              <a:solidFill>
                <a:srgbClr val="E893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7" name="矩形 206"/>
          <p:cNvSpPr>
            <a:spLocks noGrp="1"/>
          </p:cNvSpPr>
          <p:nvPr/>
        </p:nvSpPr>
        <p:spPr>
          <a:xfrm>
            <a:off x="2381250" y="5191125"/>
            <a:ext cx="80200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  <a:defRPr sz="116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16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当前只输出旋转修正，不输出X/Y平移；本版不汇报精定位结果</a:t>
            </a:r>
            <a:endParaRPr sz="1165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8" name="直接连接符 207"/>
          <p:cNvSpPr>
            <a:spLocks noGrp="1"/>
          </p:cNvSpPr>
          <p:nvPr/>
        </p:nvSpPr>
        <p:spPr>
          <a:xfrm>
            <a:off x="1066800" y="5638800"/>
            <a:ext cx="9334500" cy="0"/>
          </a:xfrm>
          <a:prstGeom prst="line">
            <a:avLst/>
          </a:prstGeom>
          <a:noFill/>
          <a:ln w="9525">
            <a:solidFill>
              <a:srgbClr val="C9D8E4"/>
            </a:solidFill>
            <a:prstDash val="solid"/>
          </a:ln>
        </p:spPr>
      </p:sp>
      <p:sp>
        <p:nvSpPr>
          <p:cNvPr id="209" name="矩形 208"/>
          <p:cNvSpPr>
            <a:spLocks noGrp="1"/>
          </p:cNvSpPr>
          <p:nvPr/>
        </p:nvSpPr>
        <p:spPr>
          <a:xfrm>
            <a:off x="1066800" y="5810250"/>
            <a:ext cx="9334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114000"/>
              </a:lnSpc>
              <a:buNone/>
              <a:defRPr sz="1090" b="0">
                <a:solidFill>
                  <a:srgbClr val="728796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728796"/>
                </a:solidFill>
                <a:latin typeface="微软雅黑"/>
                <a:ea typeface="微软雅黑"/>
                <a:cs typeface="微软雅黑"/>
              </a:rPr>
              <a:t>阶段判断：黄色粗框用于找目标，正视反馈用于把相机姿态调整到后续精定位可工作的视角。</a:t>
            </a:r>
            <a:endParaRPr sz="1090" b="0">
              <a:solidFill>
                <a:srgbClr val="728796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椭圆 3"/>
          <p:cNvSpPr>
            <a:spLocks noGrp="1"/>
          </p:cNvSpPr>
          <p:nvPr/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0070C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0" y="6750685"/>
            <a:ext cx="12192000" cy="114300"/>
          </a:xfrm>
          <a:prstGeom prst="rect">
            <a:avLst/>
          </a:prstGeom>
          <a:gradFill>
            <a:gsLst>
              <a:gs pos="0">
                <a:srgbClr val="002060">
                  <a:alpha val="23000"/>
                </a:srgbClr>
              </a:gs>
              <a:gs pos="100000">
                <a:srgbClr val="002060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9" name="椭圆 58"/>
          <p:cNvSpPr>
            <a:spLocks noGrp="1"/>
          </p:cNvSpPr>
          <p:nvPr/>
        </p:nvSpPr>
        <p:spPr>
          <a:xfrm>
            <a:off x="4192770" y="2411043"/>
            <a:ext cx="2344420" cy="2344420"/>
          </a:xfrm>
          <a:prstGeom prst="ellipse">
            <a:avLst/>
          </a:prstGeom>
          <a:solidFill>
            <a:srgbClr val="0070C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5" name="平行四边形 4"/>
          <p:cNvSpPr>
            <a:spLocks noGrp="1"/>
          </p:cNvSpPr>
          <p:nvPr/>
        </p:nvSpPr>
        <p:spPr>
          <a:xfrm rot="16200000">
            <a:off x="831215" y="316865"/>
            <a:ext cx="933450" cy="299720"/>
          </a:xfrm>
          <a:prstGeom prst="parallelogram">
            <a:avLst>
              <a:gd name="adj" fmla="val 76588"/>
            </a:avLst>
          </a:prstGeom>
          <a:solidFill>
            <a:srgbClr val="003B9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" name="平行四边形 6"/>
          <p:cNvSpPr>
            <a:spLocks noGrp="1"/>
          </p:cNvSpPr>
          <p:nvPr/>
        </p:nvSpPr>
        <p:spPr>
          <a:xfrm rot="20760000">
            <a:off x="-97790" y="149225"/>
            <a:ext cx="1352550" cy="675640"/>
          </a:xfrm>
          <a:prstGeom prst="parallelogram">
            <a:avLst/>
          </a:prstGeom>
          <a:gradFill>
            <a:gsLst>
              <a:gs pos="100000">
                <a:srgbClr val="003B90"/>
              </a:gs>
              <a:gs pos="0">
                <a:srgbClr val="003B90">
                  <a:alpha val="44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438275" y="224790"/>
            <a:ext cx="10763885" cy="702310"/>
          </a:xfrm>
          <a:prstGeom prst="rect">
            <a:avLst/>
          </a:prstGeom>
          <a:gradFill>
            <a:gsLst>
              <a:gs pos="16000">
                <a:srgbClr val="003B90"/>
              </a:gs>
              <a:gs pos="100000">
                <a:srgbClr val="0070C0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6" name="文本框 17"/>
          <p:cNvSpPr>
            <a:spLocks noGrp="1"/>
          </p:cNvSpPr>
          <p:nvPr/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normAutofit/>
          </a:bodyPr>
          <a:lstStyle/>
          <a:p>
            <a:pPr algn="ctr">
              <a:buNone/>
              <a:defRPr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3600" b="1">
              <a:solidFill>
                <a:schemeClr val="bg1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9" name="文本框 18"/>
          <p:cNvSpPr>
            <a:spLocks noGrp="1"/>
          </p:cNvSpPr>
          <p:nvPr/>
        </p:nvSpPr>
        <p:spPr>
          <a:xfrm>
            <a:off x="1530349" y="317500"/>
            <a:ext cx="7955483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单槽口数据与YOLO粗定位</a:t>
            </a:r>
            <a:endParaRPr sz="2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8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0605" y="317500"/>
            <a:ext cx="506095" cy="506095"/>
          </a:xfrm>
          <a:prstGeom prst="rect">
            <a:avLst/>
          </a:prstGeom>
        </p:spPr>
      </p:pic>
      <p:pic>
        <p:nvPicPr>
          <p:cNvPr id="139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8930" y="385445"/>
            <a:ext cx="1529715" cy="361315"/>
          </a:xfrm>
          <a:prstGeom prst="rect">
            <a:avLst/>
          </a:prstGeom>
        </p:spPr>
      </p:pic>
      <p:sp>
        <p:nvSpPr>
          <p:cNvPr id="110" name="圆角矩形 109"/>
          <p:cNvSpPr>
            <a:spLocks noGrp="1"/>
          </p:cNvSpPr>
          <p:nvPr/>
        </p:nvSpPr>
        <p:spPr>
          <a:xfrm>
            <a:off x="933450" y="1352550"/>
            <a:ext cx="6191250" cy="3562350"/>
          </a:xfrm>
          <a:prstGeom prst="roundRect">
            <a:avLst>
              <a:gd name="adj" fmla="val 3209"/>
            </a:avLst>
          </a:prstGeom>
          <a:solidFill>
            <a:srgbClr val="FFFFFF"/>
          </a:solidFill>
          <a:ln w="9525">
            <a:solidFill>
              <a:srgbClr val="C9D8E4"/>
            </a:solidFill>
            <a:prstDash val="solid"/>
          </a:ln>
        </p:spPr>
      </p:sp>
      <p:pic>
        <p:nvPicPr>
          <p:cNvPr id="142" name="图片 14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650" y="1996742"/>
            <a:ext cx="6038850" cy="2273965"/>
          </a:xfrm>
          <a:prstGeom prst="rect">
            <a:avLst/>
          </a:prstGeom>
        </p:spPr>
      </p:pic>
      <p:sp>
        <p:nvSpPr>
          <p:cNvPr id="112" name="矩形 111"/>
          <p:cNvSpPr>
            <a:spLocks noGrp="1"/>
          </p:cNvSpPr>
          <p:nvPr/>
        </p:nvSpPr>
        <p:spPr>
          <a:xfrm>
            <a:off x="1066800" y="5000625"/>
            <a:ext cx="59436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114000"/>
              </a:lnSpc>
              <a:buNone/>
              <a:defRPr sz="1015" b="0">
                <a:solidFill>
                  <a:srgbClr val="728796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728796"/>
                </a:solidFill>
                <a:latin typeface="微软雅黑"/>
                <a:ea typeface="微软雅黑"/>
                <a:cs typeface="微软雅黑"/>
              </a:rPr>
              <a:t>验证集预测示例：不同距离、角度和背景下输出单槽口ROI</a:t>
            </a:r>
            <a:endParaRPr sz="1015" b="0">
              <a:solidFill>
                <a:srgbClr val="72879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3" name="矩形 112"/>
          <p:cNvSpPr>
            <a:spLocks noGrp="1"/>
          </p:cNvSpPr>
          <p:nvPr/>
        </p:nvSpPr>
        <p:spPr>
          <a:xfrm>
            <a:off x="7467600" y="1362075"/>
            <a:ext cx="3048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  <a:defRPr sz="142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本周处理</a:t>
            </a:r>
            <a:endParaRPr sz="1425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4" name="矩形 113"/>
          <p:cNvSpPr>
            <a:spLocks noGrp="1"/>
          </p:cNvSpPr>
          <p:nvPr/>
        </p:nvSpPr>
        <p:spPr>
          <a:xfrm>
            <a:off x="7467600" y="1752600"/>
            <a:ext cx="3048000" cy="1257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10" b="0">
                <a:solidFill>
                  <a:srgbClr val="3F586A"/>
                </a:solidFill>
                <a:latin typeface="微软雅黑"/>
                <a:ea typeface="微软雅黑"/>
                <a:cs typeface="微软雅黑"/>
              </a:defRPr>
            </a:pPr>
            <a:endParaRPr sz="1110" b="0">
              <a:solidFill>
                <a:srgbClr val="3F586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6" name="矩形 115"/>
          <p:cNvSpPr>
            <a:spLocks noGrp="1"/>
          </p:cNvSpPr>
          <p:nvPr/>
        </p:nvSpPr>
        <p:spPr>
          <a:xfrm>
            <a:off x="7581900" y="3314700"/>
            <a:ext cx="12001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14000"/>
              </a:lnSpc>
              <a:buNone/>
              <a:defRPr sz="1500" b="1">
                <a:solidFill>
                  <a:srgbClr val="239B70"/>
                </a:solidFill>
                <a:latin typeface="微软雅黑"/>
                <a:ea typeface="微软雅黑"/>
                <a:cs typeface="微软雅黑"/>
              </a:defRPr>
            </a:pPr>
            <a:endParaRPr sz="1500" b="1">
              <a:solidFill>
                <a:srgbClr val="239B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1" name="圆角矩形 120"/>
          <p:cNvSpPr>
            <a:spLocks noGrp="1"/>
          </p:cNvSpPr>
          <p:nvPr/>
        </p:nvSpPr>
        <p:spPr>
          <a:xfrm>
            <a:off x="1066800" y="5140960"/>
            <a:ext cx="1428750" cy="1009650"/>
          </a:xfrm>
          <a:prstGeom prst="roundRect">
            <a:avLst>
              <a:gd name="adj" fmla="val 11321"/>
            </a:avLst>
          </a:prstGeom>
          <a:solidFill>
            <a:srgbClr val="EAF4FB"/>
          </a:solidFill>
          <a:ln w="9525">
            <a:solidFill>
              <a:srgbClr val="B6D7EA"/>
            </a:solidFill>
            <a:prstDash val="solid"/>
          </a:ln>
        </p:spPr>
      </p:sp>
      <p:sp>
        <p:nvSpPr>
          <p:cNvPr id="122" name="矩形 121"/>
          <p:cNvSpPr>
            <a:spLocks noGrp="1"/>
          </p:cNvSpPr>
          <p:nvPr/>
        </p:nvSpPr>
        <p:spPr>
          <a:xfrm>
            <a:off x="1181100" y="5229225"/>
            <a:ext cx="12001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14000"/>
              </a:lnSpc>
              <a:buNone/>
              <a:defRPr sz="1500" b="1">
                <a:solidFill>
                  <a:srgbClr val="145CA8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45CA8"/>
                </a:solidFill>
                <a:latin typeface="微软雅黑"/>
                <a:ea typeface="微软雅黑"/>
                <a:cs typeface="微软雅黑"/>
              </a:rPr>
              <a:t>7.1 px</a:t>
            </a:r>
            <a:endParaRPr sz="1500" b="1">
              <a:solidFill>
                <a:srgbClr val="145CA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3" name="矩形 122"/>
          <p:cNvSpPr>
            <a:spLocks noGrp="1"/>
          </p:cNvSpPr>
          <p:nvPr/>
        </p:nvSpPr>
        <p:spPr>
          <a:xfrm>
            <a:off x="1227455" y="5581015"/>
            <a:ext cx="12001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14000"/>
              </a:lnSpc>
              <a:buNone/>
              <a:defRPr sz="101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rPr>
              <a:t>平均中心误差</a:t>
            </a:r>
            <a:endParaRPr sz="1015" b="0">
              <a:solidFill>
                <a:srgbClr val="3F586A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9005" y="1647825"/>
            <a:ext cx="5380990" cy="363601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椭圆 3"/>
          <p:cNvSpPr>
            <a:spLocks noGrp="1"/>
          </p:cNvSpPr>
          <p:nvPr/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0070C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0" y="6750685"/>
            <a:ext cx="12192000" cy="114300"/>
          </a:xfrm>
          <a:prstGeom prst="rect">
            <a:avLst/>
          </a:prstGeom>
          <a:gradFill>
            <a:gsLst>
              <a:gs pos="0">
                <a:srgbClr val="002060">
                  <a:alpha val="23000"/>
                </a:srgbClr>
              </a:gs>
              <a:gs pos="100000">
                <a:srgbClr val="002060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9" name="椭圆 58"/>
          <p:cNvSpPr>
            <a:spLocks noGrp="1"/>
          </p:cNvSpPr>
          <p:nvPr/>
        </p:nvSpPr>
        <p:spPr>
          <a:xfrm>
            <a:off x="4192770" y="2411043"/>
            <a:ext cx="2344420" cy="2344420"/>
          </a:xfrm>
          <a:prstGeom prst="ellipse">
            <a:avLst/>
          </a:prstGeom>
          <a:solidFill>
            <a:srgbClr val="0070C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5" name="平行四边形 4"/>
          <p:cNvSpPr>
            <a:spLocks noGrp="1"/>
          </p:cNvSpPr>
          <p:nvPr/>
        </p:nvSpPr>
        <p:spPr>
          <a:xfrm rot="16200000">
            <a:off x="831215" y="316865"/>
            <a:ext cx="933450" cy="299720"/>
          </a:xfrm>
          <a:prstGeom prst="parallelogram">
            <a:avLst>
              <a:gd name="adj" fmla="val 76588"/>
            </a:avLst>
          </a:prstGeom>
          <a:solidFill>
            <a:srgbClr val="003B9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" name="平行四边形 6"/>
          <p:cNvSpPr>
            <a:spLocks noGrp="1"/>
          </p:cNvSpPr>
          <p:nvPr/>
        </p:nvSpPr>
        <p:spPr>
          <a:xfrm rot="20760000">
            <a:off x="-97790" y="149225"/>
            <a:ext cx="1352550" cy="675640"/>
          </a:xfrm>
          <a:prstGeom prst="parallelogram">
            <a:avLst/>
          </a:prstGeom>
          <a:gradFill>
            <a:gsLst>
              <a:gs pos="100000">
                <a:srgbClr val="003B90"/>
              </a:gs>
              <a:gs pos="0">
                <a:srgbClr val="003B90">
                  <a:alpha val="44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438275" y="224790"/>
            <a:ext cx="10763885" cy="702310"/>
          </a:xfrm>
          <a:prstGeom prst="rect">
            <a:avLst/>
          </a:prstGeom>
          <a:gradFill>
            <a:gsLst>
              <a:gs pos="16000">
                <a:srgbClr val="003B90"/>
              </a:gs>
              <a:gs pos="100000">
                <a:srgbClr val="0070C0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6" name="文本框 17"/>
          <p:cNvSpPr>
            <a:spLocks noGrp="1"/>
          </p:cNvSpPr>
          <p:nvPr/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normAutofit/>
          </a:bodyPr>
          <a:lstStyle/>
          <a:p>
            <a:pPr algn="ctr">
              <a:buNone/>
              <a:defRPr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3600" b="1">
              <a:solidFill>
                <a:schemeClr val="bg1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9" name="文本框 18"/>
          <p:cNvSpPr>
            <a:spLocks noGrp="1"/>
          </p:cNvSpPr>
          <p:nvPr/>
        </p:nvSpPr>
        <p:spPr>
          <a:xfrm>
            <a:off x="1530349" y="317500"/>
            <a:ext cx="7955483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粗定位后的正视姿态估计</a:t>
            </a:r>
            <a:endParaRPr sz="2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62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0605" y="317500"/>
            <a:ext cx="506095" cy="506095"/>
          </a:xfrm>
          <a:prstGeom prst="rect">
            <a:avLst/>
          </a:prstGeom>
        </p:spPr>
      </p:pic>
      <p:pic>
        <p:nvPicPr>
          <p:cNvPr id="263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8930" y="385445"/>
            <a:ext cx="1529715" cy="361315"/>
          </a:xfrm>
          <a:prstGeom prst="rect">
            <a:avLst/>
          </a:prstGeom>
        </p:spPr>
      </p:pic>
      <p:sp>
        <p:nvSpPr>
          <p:cNvPr id="27" name="矩形: 圆角 26"/>
          <p:cNvSpPr>
            <a:spLocks noGrp="1"/>
          </p:cNvSpPr>
          <p:nvPr/>
        </p:nvSpPr>
        <p:spPr>
          <a:xfrm>
            <a:off x="726393" y="1028700"/>
            <a:ext cx="10769470" cy="5648325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sp>
        <p:nvSpPr>
          <p:cNvPr id="229" name="圆角矩形 228"/>
          <p:cNvSpPr>
            <a:spLocks noGrp="1"/>
          </p:cNvSpPr>
          <p:nvPr/>
        </p:nvSpPr>
        <p:spPr>
          <a:xfrm>
            <a:off x="914400" y="1352550"/>
            <a:ext cx="5905500" cy="3638550"/>
          </a:xfrm>
          <a:prstGeom prst="roundRect">
            <a:avLst>
              <a:gd name="adj" fmla="val 3141"/>
            </a:avLst>
          </a:prstGeom>
          <a:solidFill>
            <a:srgbClr val="FFFFFF"/>
          </a:solidFill>
          <a:ln w="9525">
            <a:solidFill>
              <a:srgbClr val="C9D8E4"/>
            </a:solidFill>
            <a:prstDash val="solid"/>
          </a:ln>
        </p:spPr>
      </p:sp>
      <p:pic>
        <p:nvPicPr>
          <p:cNvPr id="266" name="图片 26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1544303"/>
            <a:ext cx="5753100" cy="3255043"/>
          </a:xfrm>
          <a:prstGeom prst="rect">
            <a:avLst/>
          </a:prstGeom>
        </p:spPr>
      </p:pic>
      <p:sp>
        <p:nvSpPr>
          <p:cNvPr id="231" name="矩形 230"/>
          <p:cNvSpPr>
            <a:spLocks noGrp="1"/>
          </p:cNvSpPr>
          <p:nvPr/>
        </p:nvSpPr>
        <p:spPr>
          <a:xfrm>
            <a:off x="7124700" y="1362075"/>
            <a:ext cx="32766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  <a:defRPr sz="142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正视反馈流程</a:t>
            </a:r>
            <a:endParaRPr sz="1425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2" name="圆角矩形 231"/>
          <p:cNvSpPr>
            <a:spLocks noGrp="1"/>
          </p:cNvSpPr>
          <p:nvPr/>
        </p:nvSpPr>
        <p:spPr>
          <a:xfrm>
            <a:off x="7124700" y="1762125"/>
            <a:ext cx="3276600" cy="742950"/>
          </a:xfrm>
          <a:prstGeom prst="roundRect">
            <a:avLst>
              <a:gd name="adj" fmla="val 15385"/>
            </a:avLst>
          </a:prstGeom>
          <a:solidFill>
            <a:srgbClr val="F5F9FC"/>
          </a:solidFill>
          <a:ln w="9525">
            <a:solidFill>
              <a:srgbClr val="C9D8E4"/>
            </a:solidFill>
            <a:prstDash val="solid"/>
          </a:ln>
        </p:spPr>
      </p:sp>
      <p:sp>
        <p:nvSpPr>
          <p:cNvPr id="233" name="矩形 232"/>
          <p:cNvSpPr>
            <a:spLocks noGrp="1"/>
          </p:cNvSpPr>
          <p:nvPr/>
        </p:nvSpPr>
        <p:spPr>
          <a:xfrm>
            <a:off x="7124700" y="1762125"/>
            <a:ext cx="3276600" cy="47625"/>
          </a:xfrm>
          <a:prstGeom prst="rect">
            <a:avLst/>
          </a:prstGeom>
          <a:solidFill>
            <a:srgbClr val="22A9D6"/>
          </a:solidFill>
          <a:ln w="0">
            <a:noFill/>
          </a:ln>
        </p:spPr>
      </p:sp>
      <p:sp>
        <p:nvSpPr>
          <p:cNvPr id="234" name="矩形 233"/>
          <p:cNvSpPr>
            <a:spLocks noGrp="1"/>
          </p:cNvSpPr>
          <p:nvPr/>
        </p:nvSpPr>
        <p:spPr>
          <a:xfrm>
            <a:off x="7277100" y="1933575"/>
            <a:ext cx="29718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  <a:defRPr sz="116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16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黄色ROI</a:t>
            </a:r>
            <a:r>
              <a:rPr lang="zh-CN" sz="116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框选范围</a:t>
            </a:r>
            <a:endParaRPr lang="zh-CN" sz="1165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5" name="矩形 234"/>
          <p:cNvSpPr>
            <a:spLocks noGrp="1"/>
          </p:cNvSpPr>
          <p:nvPr/>
        </p:nvSpPr>
        <p:spPr>
          <a:xfrm>
            <a:off x="7239000" y="2153920"/>
            <a:ext cx="2971800" cy="2108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95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defRPr>
            </a:pPr>
            <a:r>
              <a:rPr sz="95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rPr>
              <a:t>YOLO提供槽口大致范围</a:t>
            </a:r>
            <a:endParaRPr sz="955" b="0">
              <a:solidFill>
                <a:srgbClr val="3F586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6" name="圆角矩形 235"/>
          <p:cNvSpPr>
            <a:spLocks noGrp="1"/>
          </p:cNvSpPr>
          <p:nvPr/>
        </p:nvSpPr>
        <p:spPr>
          <a:xfrm>
            <a:off x="7124700" y="2638425"/>
            <a:ext cx="3276600" cy="742950"/>
          </a:xfrm>
          <a:prstGeom prst="roundRect">
            <a:avLst>
              <a:gd name="adj" fmla="val 15385"/>
            </a:avLst>
          </a:prstGeom>
          <a:solidFill>
            <a:srgbClr val="F5F9FC"/>
          </a:solidFill>
          <a:ln w="9525">
            <a:solidFill>
              <a:srgbClr val="C9D8E4"/>
            </a:solidFill>
            <a:prstDash val="solid"/>
          </a:ln>
        </p:spPr>
      </p:sp>
      <p:sp>
        <p:nvSpPr>
          <p:cNvPr id="237" name="矩形 236"/>
          <p:cNvSpPr>
            <a:spLocks noGrp="1"/>
          </p:cNvSpPr>
          <p:nvPr/>
        </p:nvSpPr>
        <p:spPr>
          <a:xfrm>
            <a:off x="7124700" y="2638425"/>
            <a:ext cx="3276600" cy="47625"/>
          </a:xfrm>
          <a:prstGeom prst="rect">
            <a:avLst/>
          </a:prstGeom>
          <a:solidFill>
            <a:srgbClr val="1D84C5"/>
          </a:solidFill>
          <a:ln w="0">
            <a:noFill/>
          </a:ln>
        </p:spPr>
      </p:sp>
      <p:sp>
        <p:nvSpPr>
          <p:cNvPr id="238" name="矩形 237"/>
          <p:cNvSpPr>
            <a:spLocks noGrp="1"/>
          </p:cNvSpPr>
          <p:nvPr/>
        </p:nvSpPr>
        <p:spPr>
          <a:xfrm>
            <a:off x="7167880" y="2686050"/>
            <a:ext cx="29718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  <a:defRPr sz="116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16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深度平面</a:t>
            </a:r>
            <a:endParaRPr sz="1165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9" name="矩形 238"/>
          <p:cNvSpPr>
            <a:spLocks noGrp="1"/>
          </p:cNvSpPr>
          <p:nvPr/>
        </p:nvSpPr>
        <p:spPr>
          <a:xfrm>
            <a:off x="7239000" y="2895600"/>
            <a:ext cx="2971800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95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defRPr>
            </a:pPr>
            <a:r>
              <a:rPr lang="en-US" sz="95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rPr>
              <a:t>RANSANC</a:t>
            </a:r>
            <a:r>
              <a:rPr lang="zh-CN" altLang="en-US" sz="95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rPr>
              <a:t>拟合局部平面，用于得到一个平面标准，然后相机根据这个平面得到姿态信息，法向计算</a:t>
            </a:r>
            <a:r>
              <a:rPr lang="en-US" altLang="zh-CN" sz="95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rPr>
              <a:t>pitch/yaw</a:t>
            </a:r>
            <a:endParaRPr lang="en-US" altLang="zh-CN" sz="955" b="0">
              <a:solidFill>
                <a:srgbClr val="3F586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0" name="圆角矩形 239"/>
          <p:cNvSpPr>
            <a:spLocks noGrp="1"/>
          </p:cNvSpPr>
          <p:nvPr/>
        </p:nvSpPr>
        <p:spPr>
          <a:xfrm>
            <a:off x="7124700" y="3514725"/>
            <a:ext cx="3276600" cy="742950"/>
          </a:xfrm>
          <a:prstGeom prst="roundRect">
            <a:avLst>
              <a:gd name="adj" fmla="val 15385"/>
            </a:avLst>
          </a:prstGeom>
          <a:solidFill>
            <a:srgbClr val="F5F9FC"/>
          </a:solidFill>
          <a:ln w="9525">
            <a:solidFill>
              <a:srgbClr val="C9D8E4"/>
            </a:solidFill>
            <a:prstDash val="solid"/>
          </a:ln>
        </p:spPr>
      </p:sp>
      <p:sp>
        <p:nvSpPr>
          <p:cNvPr id="241" name="矩形 240"/>
          <p:cNvSpPr>
            <a:spLocks noGrp="1"/>
          </p:cNvSpPr>
          <p:nvPr/>
        </p:nvSpPr>
        <p:spPr>
          <a:xfrm>
            <a:off x="7124700" y="3514725"/>
            <a:ext cx="3276600" cy="47625"/>
          </a:xfrm>
          <a:prstGeom prst="rect">
            <a:avLst/>
          </a:prstGeom>
          <a:solidFill>
            <a:srgbClr val="145CA8"/>
          </a:solidFill>
          <a:ln w="0">
            <a:noFill/>
          </a:ln>
        </p:spPr>
      </p:sp>
      <p:sp>
        <p:nvSpPr>
          <p:cNvPr id="242" name="矩形 241"/>
          <p:cNvSpPr>
            <a:spLocks noGrp="1"/>
          </p:cNvSpPr>
          <p:nvPr/>
        </p:nvSpPr>
        <p:spPr>
          <a:xfrm>
            <a:off x="7239000" y="3590925"/>
            <a:ext cx="29718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  <a:defRPr sz="116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16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长边</a:t>
            </a:r>
            <a:r>
              <a:rPr lang="zh-CN" sz="116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识别</a:t>
            </a:r>
            <a:endParaRPr lang="zh-CN" sz="1165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3" name="矩形 242"/>
          <p:cNvSpPr>
            <a:spLocks noGrp="1"/>
          </p:cNvSpPr>
          <p:nvPr/>
        </p:nvSpPr>
        <p:spPr>
          <a:xfrm>
            <a:off x="7204710" y="3829050"/>
            <a:ext cx="2971800" cy="114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95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sz="95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rPr>
              <a:t>黄色框内部灰度化、</a:t>
            </a:r>
            <a:r>
              <a:rPr lang="en-US" altLang="zh-CN" sz="95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rPr>
              <a:t>Canny、HoughLinesP</a:t>
            </a:r>
            <a:r>
              <a:rPr lang="zh-CN" altLang="en-US" sz="95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rPr>
              <a:t>，边主方向计算</a:t>
            </a:r>
            <a:r>
              <a:rPr lang="en-US" altLang="zh-CN" sz="95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rPr>
              <a:t>roll</a:t>
            </a:r>
            <a:endParaRPr lang="en-US" altLang="zh-CN" sz="955" b="0">
              <a:solidFill>
                <a:srgbClr val="3F586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4" name="圆角矩形 243"/>
          <p:cNvSpPr>
            <a:spLocks noGrp="1"/>
          </p:cNvSpPr>
          <p:nvPr/>
        </p:nvSpPr>
        <p:spPr>
          <a:xfrm>
            <a:off x="7124700" y="4391025"/>
            <a:ext cx="3276600" cy="742950"/>
          </a:xfrm>
          <a:prstGeom prst="roundRect">
            <a:avLst>
              <a:gd name="adj" fmla="val 15385"/>
            </a:avLst>
          </a:prstGeom>
          <a:solidFill>
            <a:srgbClr val="F5F9FC"/>
          </a:solidFill>
          <a:ln w="9525">
            <a:solidFill>
              <a:srgbClr val="C9D8E4"/>
            </a:solidFill>
            <a:prstDash val="solid"/>
          </a:ln>
        </p:spPr>
      </p:sp>
      <p:sp>
        <p:nvSpPr>
          <p:cNvPr id="245" name="矩形 244"/>
          <p:cNvSpPr>
            <a:spLocks noGrp="1"/>
          </p:cNvSpPr>
          <p:nvPr/>
        </p:nvSpPr>
        <p:spPr>
          <a:xfrm>
            <a:off x="7124700" y="4391025"/>
            <a:ext cx="3276600" cy="47625"/>
          </a:xfrm>
          <a:prstGeom prst="rect">
            <a:avLst/>
          </a:prstGeom>
          <a:solidFill>
            <a:srgbClr val="239B70"/>
          </a:solidFill>
          <a:ln w="0">
            <a:noFill/>
          </a:ln>
        </p:spPr>
      </p:sp>
      <p:sp>
        <p:nvSpPr>
          <p:cNvPr id="246" name="矩形 245"/>
          <p:cNvSpPr>
            <a:spLocks noGrp="1"/>
          </p:cNvSpPr>
          <p:nvPr/>
        </p:nvSpPr>
        <p:spPr>
          <a:xfrm>
            <a:off x="7204710" y="4438650"/>
            <a:ext cx="29718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  <a:defRPr sz="116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16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连续确认</a:t>
            </a:r>
            <a:endParaRPr sz="1165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7" name="矩形 246"/>
          <p:cNvSpPr>
            <a:spLocks noGrp="1"/>
          </p:cNvSpPr>
          <p:nvPr/>
        </p:nvSpPr>
        <p:spPr>
          <a:xfrm>
            <a:off x="7239000" y="4683760"/>
            <a:ext cx="2971800" cy="114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95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defRPr>
            </a:pPr>
            <a:r>
              <a:rPr sz="95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rPr>
              <a:t>连续5帧满足角度门限</a:t>
            </a:r>
            <a:endParaRPr sz="955" b="0">
              <a:solidFill>
                <a:srgbClr val="3F586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6000"/>
              </a:lnSpc>
              <a:buNone/>
              <a:defRPr sz="95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defRPr>
            </a:pPr>
            <a:r>
              <a:rPr sz="95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rPr>
              <a:t>输出FRONT_ALIGNED</a:t>
            </a:r>
            <a:endParaRPr sz="955" b="0">
              <a:solidFill>
                <a:srgbClr val="3F586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8" name="圆角矩形 247"/>
          <p:cNvSpPr>
            <a:spLocks noGrp="1"/>
          </p:cNvSpPr>
          <p:nvPr/>
        </p:nvSpPr>
        <p:spPr>
          <a:xfrm>
            <a:off x="914400" y="5286375"/>
            <a:ext cx="5905500" cy="895350"/>
          </a:xfrm>
          <a:prstGeom prst="roundRect">
            <a:avLst>
              <a:gd name="adj" fmla="val 12766"/>
            </a:avLst>
          </a:prstGeom>
          <a:solidFill>
            <a:srgbClr val="EAF4FB"/>
          </a:solidFill>
          <a:ln w="9525">
            <a:solidFill>
              <a:srgbClr val="B6D7EA"/>
            </a:solidFill>
            <a:prstDash val="solid"/>
          </a:ln>
        </p:spPr>
      </p:sp>
      <p:sp>
        <p:nvSpPr>
          <p:cNvPr id="249" name="矩形 248"/>
          <p:cNvSpPr>
            <a:spLocks noGrp="1"/>
          </p:cNvSpPr>
          <p:nvPr/>
        </p:nvSpPr>
        <p:spPr>
          <a:xfrm>
            <a:off x="1123950" y="5457825"/>
            <a:ext cx="10477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  <a:defRPr sz="1240" b="1">
                <a:solidFill>
                  <a:srgbClr val="145CA8"/>
                </a:solidFill>
                <a:latin typeface="微软雅黑"/>
                <a:ea typeface="微软雅黑"/>
                <a:cs typeface="微软雅黑"/>
              </a:defRPr>
            </a:pPr>
            <a:r>
              <a:rPr sz="1240" b="1">
                <a:solidFill>
                  <a:srgbClr val="145CA8"/>
                </a:solidFill>
                <a:latin typeface="微软雅黑"/>
                <a:ea typeface="微软雅黑"/>
                <a:cs typeface="微软雅黑"/>
              </a:rPr>
              <a:t>核心公式</a:t>
            </a:r>
            <a:endParaRPr sz="1240" b="1">
              <a:solidFill>
                <a:srgbClr val="145CA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0" name="矩形 249"/>
          <p:cNvSpPr>
            <a:spLocks noGrp="1"/>
          </p:cNvSpPr>
          <p:nvPr/>
        </p:nvSpPr>
        <p:spPr>
          <a:xfrm>
            <a:off x="2266950" y="5400675"/>
            <a:ext cx="43053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  <a:defRPr sz="1125" b="0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X=(u-cₓ)Z/fₓ，Y=(v-cᵧ)Z/fᵧ</a:t>
            </a:r>
            <a:endParaRPr sz="1125" b="0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20000"/>
              </a:lnSpc>
              <a:buNone/>
              <a:defRPr sz="1125" b="0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tilt=acos(n·e_z)，roll=atan2(Δy,Δx)</a:t>
            </a:r>
            <a:endParaRPr sz="1125" b="0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1" name="圆角矩形 250"/>
          <p:cNvSpPr>
            <a:spLocks noGrp="1"/>
          </p:cNvSpPr>
          <p:nvPr/>
        </p:nvSpPr>
        <p:spPr>
          <a:xfrm>
            <a:off x="7124700" y="5448300"/>
            <a:ext cx="3276600" cy="733425"/>
          </a:xfrm>
          <a:prstGeom prst="roundRect">
            <a:avLst>
              <a:gd name="adj" fmla="val 15584"/>
            </a:avLst>
          </a:prstGeom>
          <a:solidFill>
            <a:srgbClr val="E8F5EF"/>
          </a:solidFill>
          <a:ln w="9525">
            <a:solidFill>
              <a:srgbClr val="239B70"/>
            </a:solidFill>
            <a:prstDash val="solid"/>
          </a:ln>
        </p:spPr>
      </p:sp>
      <p:sp>
        <p:nvSpPr>
          <p:cNvPr id="252" name="矩形 251"/>
          <p:cNvSpPr>
            <a:spLocks noGrp="1"/>
          </p:cNvSpPr>
          <p:nvPr/>
        </p:nvSpPr>
        <p:spPr>
          <a:xfrm>
            <a:off x="7315200" y="558165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  <a:defRPr sz="1165" b="1">
                <a:solidFill>
                  <a:srgbClr val="239B70"/>
                </a:solidFill>
                <a:latin typeface="微软雅黑"/>
                <a:ea typeface="微软雅黑"/>
                <a:cs typeface="微软雅黑"/>
              </a:defRPr>
            </a:pPr>
            <a:r>
              <a:rPr sz="1165" b="1">
                <a:solidFill>
                  <a:srgbClr val="239B70"/>
                </a:solidFill>
                <a:latin typeface="微软雅黑"/>
                <a:ea typeface="微软雅黑"/>
                <a:cs typeface="微软雅黑"/>
              </a:rPr>
              <a:t>离线样例</a:t>
            </a:r>
            <a:endParaRPr sz="1165" b="1">
              <a:solidFill>
                <a:srgbClr val="239B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3" name="矩形 252"/>
          <p:cNvSpPr>
            <a:spLocks noGrp="1"/>
          </p:cNvSpPr>
          <p:nvPr/>
        </p:nvSpPr>
        <p:spPr>
          <a:xfrm>
            <a:off x="8210550" y="5581650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114000"/>
              </a:lnSpc>
              <a:buNone/>
              <a:defRPr sz="1090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YOLO</a:t>
            </a:r>
            <a:r>
              <a:rPr lang="zh-CN" sz="1090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置信度为</a:t>
            </a:r>
            <a:r>
              <a:rPr sz="1090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0.883 </a:t>
            </a:r>
            <a:r>
              <a:rPr lang="zh-CN" sz="1090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，估计</a:t>
            </a:r>
            <a:r>
              <a:rPr sz="1090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 roll -7.70°</a:t>
            </a:r>
            <a:r>
              <a:rPr lang="zh-CN" sz="1090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，</a:t>
            </a:r>
            <a:r>
              <a:rPr sz="1090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长边质量</a:t>
            </a:r>
            <a:r>
              <a:rPr lang="zh-CN" sz="1090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为</a:t>
            </a:r>
            <a:r>
              <a:rPr sz="1090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 0.887</a:t>
            </a:r>
            <a:endParaRPr sz="1090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椭圆 3"/>
          <p:cNvSpPr>
            <a:spLocks noGrp="1"/>
          </p:cNvSpPr>
          <p:nvPr/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0070C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0" y="6750685"/>
            <a:ext cx="12192000" cy="114300"/>
          </a:xfrm>
          <a:prstGeom prst="rect">
            <a:avLst/>
          </a:prstGeom>
          <a:gradFill>
            <a:gsLst>
              <a:gs pos="0">
                <a:srgbClr val="002060">
                  <a:alpha val="23000"/>
                </a:srgbClr>
              </a:gs>
              <a:gs pos="100000">
                <a:srgbClr val="002060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9" name="椭圆 58"/>
          <p:cNvSpPr>
            <a:spLocks noGrp="1"/>
          </p:cNvSpPr>
          <p:nvPr/>
        </p:nvSpPr>
        <p:spPr>
          <a:xfrm>
            <a:off x="4192770" y="2411043"/>
            <a:ext cx="2344420" cy="2344420"/>
          </a:xfrm>
          <a:prstGeom prst="ellipse">
            <a:avLst/>
          </a:prstGeom>
          <a:solidFill>
            <a:srgbClr val="0070C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5" name="平行四边形 4"/>
          <p:cNvSpPr>
            <a:spLocks noGrp="1"/>
          </p:cNvSpPr>
          <p:nvPr/>
        </p:nvSpPr>
        <p:spPr>
          <a:xfrm rot="16200000">
            <a:off x="831215" y="316865"/>
            <a:ext cx="933450" cy="299720"/>
          </a:xfrm>
          <a:prstGeom prst="parallelogram">
            <a:avLst>
              <a:gd name="adj" fmla="val 76588"/>
            </a:avLst>
          </a:prstGeom>
          <a:solidFill>
            <a:srgbClr val="003B9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" name="平行四边形 6"/>
          <p:cNvSpPr>
            <a:spLocks noGrp="1"/>
          </p:cNvSpPr>
          <p:nvPr/>
        </p:nvSpPr>
        <p:spPr>
          <a:xfrm rot="20760000">
            <a:off x="-97790" y="149225"/>
            <a:ext cx="1352550" cy="675640"/>
          </a:xfrm>
          <a:prstGeom prst="parallelogram">
            <a:avLst/>
          </a:prstGeom>
          <a:gradFill>
            <a:gsLst>
              <a:gs pos="100000">
                <a:srgbClr val="003B90"/>
              </a:gs>
              <a:gs pos="0">
                <a:srgbClr val="003B90">
                  <a:alpha val="44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438275" y="224790"/>
            <a:ext cx="10763885" cy="702310"/>
          </a:xfrm>
          <a:prstGeom prst="rect">
            <a:avLst/>
          </a:prstGeom>
          <a:gradFill>
            <a:gsLst>
              <a:gs pos="16000">
                <a:srgbClr val="003B90"/>
              </a:gs>
              <a:gs pos="100000">
                <a:srgbClr val="0070C0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6" name="文本框 17"/>
          <p:cNvSpPr>
            <a:spLocks noGrp="1"/>
          </p:cNvSpPr>
          <p:nvPr/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normAutofit/>
          </a:bodyPr>
          <a:lstStyle/>
          <a:p>
            <a:pPr algn="ctr">
              <a:buNone/>
              <a:defRPr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3600" b="1">
              <a:solidFill>
                <a:schemeClr val="bg1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9" name="文本框 18"/>
          <p:cNvSpPr>
            <a:spLocks noGrp="1"/>
          </p:cNvSpPr>
          <p:nvPr/>
        </p:nvSpPr>
        <p:spPr>
          <a:xfrm>
            <a:off x="1530349" y="317500"/>
            <a:ext cx="79554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IPPE/PnP探索与方法取舍</a:t>
            </a:r>
            <a:endParaRPr sz="2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92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0605" y="317500"/>
            <a:ext cx="506095" cy="506095"/>
          </a:xfrm>
          <a:prstGeom prst="rect">
            <a:avLst/>
          </a:prstGeom>
        </p:spPr>
      </p:pic>
      <p:pic>
        <p:nvPicPr>
          <p:cNvPr id="193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8930" y="385445"/>
            <a:ext cx="1529715" cy="361315"/>
          </a:xfrm>
          <a:prstGeom prst="rect">
            <a:avLst/>
          </a:prstGeom>
        </p:spPr>
      </p:pic>
      <p:sp>
        <p:nvSpPr>
          <p:cNvPr id="27" name="矩形: 圆角 26"/>
          <p:cNvSpPr>
            <a:spLocks noGrp="1"/>
          </p:cNvSpPr>
          <p:nvPr/>
        </p:nvSpPr>
        <p:spPr>
          <a:xfrm>
            <a:off x="726393" y="1028700"/>
            <a:ext cx="10769470" cy="5648325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sp>
        <p:nvSpPr>
          <p:cNvPr id="155" name="矩形 154"/>
          <p:cNvSpPr>
            <a:spLocks noGrp="1"/>
          </p:cNvSpPr>
          <p:nvPr/>
        </p:nvSpPr>
        <p:spPr>
          <a:xfrm>
            <a:off x="990600" y="1362075"/>
            <a:ext cx="1714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  <a:defRPr sz="142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尝试方案</a:t>
            </a:r>
            <a:endParaRPr sz="1425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6" name="圆角矩形 155"/>
          <p:cNvSpPr>
            <a:spLocks noGrp="1"/>
          </p:cNvSpPr>
          <p:nvPr/>
        </p:nvSpPr>
        <p:spPr>
          <a:xfrm>
            <a:off x="990600" y="1752600"/>
            <a:ext cx="2095500" cy="1000125"/>
          </a:xfrm>
          <a:prstGeom prst="roundRect">
            <a:avLst>
              <a:gd name="adj" fmla="val 11429"/>
            </a:avLst>
          </a:prstGeom>
          <a:solidFill>
            <a:srgbClr val="F5F9FC"/>
          </a:solidFill>
          <a:ln w="9525">
            <a:solidFill>
              <a:srgbClr val="C9D8E4"/>
            </a:solidFill>
            <a:prstDash val="solid"/>
          </a:ln>
        </p:spPr>
      </p:sp>
      <p:sp>
        <p:nvSpPr>
          <p:cNvPr id="157" name="矩形 156"/>
          <p:cNvSpPr>
            <a:spLocks noGrp="1"/>
          </p:cNvSpPr>
          <p:nvPr/>
        </p:nvSpPr>
        <p:spPr>
          <a:xfrm>
            <a:off x="990600" y="1752600"/>
            <a:ext cx="2095500" cy="47625"/>
          </a:xfrm>
          <a:prstGeom prst="rect">
            <a:avLst/>
          </a:prstGeom>
          <a:solidFill>
            <a:srgbClr val="22A9D6"/>
          </a:solidFill>
          <a:ln w="0">
            <a:noFill/>
          </a:ln>
        </p:spPr>
      </p:sp>
      <p:sp>
        <p:nvSpPr>
          <p:cNvPr id="158" name="矩形 157"/>
          <p:cNvSpPr>
            <a:spLocks noGrp="1"/>
          </p:cNvSpPr>
          <p:nvPr/>
        </p:nvSpPr>
        <p:spPr>
          <a:xfrm>
            <a:off x="1143000" y="1924050"/>
            <a:ext cx="17907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114000"/>
              </a:lnSpc>
              <a:buNone/>
              <a:defRPr sz="12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粗四边形</a:t>
            </a:r>
            <a:endParaRPr sz="1275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9" name="矩形 158"/>
          <p:cNvSpPr>
            <a:spLocks noGrp="1"/>
          </p:cNvSpPr>
          <p:nvPr/>
        </p:nvSpPr>
        <p:spPr>
          <a:xfrm>
            <a:off x="1143000" y="2257425"/>
            <a:ext cx="17907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16000"/>
              </a:lnSpc>
              <a:buNone/>
              <a:defRPr sz="101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rPr>
              <a:t>从黄色ROI内枚举四条边</a:t>
            </a:r>
            <a:endParaRPr sz="1015" b="0">
              <a:solidFill>
                <a:srgbClr val="3F586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0" name="圆角矩形 159"/>
          <p:cNvSpPr>
            <a:spLocks noGrp="1"/>
          </p:cNvSpPr>
          <p:nvPr/>
        </p:nvSpPr>
        <p:spPr>
          <a:xfrm>
            <a:off x="3467100" y="1752600"/>
            <a:ext cx="2095500" cy="1000125"/>
          </a:xfrm>
          <a:prstGeom prst="roundRect">
            <a:avLst>
              <a:gd name="adj" fmla="val 11429"/>
            </a:avLst>
          </a:prstGeom>
          <a:solidFill>
            <a:srgbClr val="F5F9FC"/>
          </a:solidFill>
          <a:ln w="9525">
            <a:solidFill>
              <a:srgbClr val="C9D8E4"/>
            </a:solidFill>
            <a:prstDash val="solid"/>
          </a:ln>
        </p:spPr>
      </p:sp>
      <p:sp>
        <p:nvSpPr>
          <p:cNvPr id="161" name="矩形 160"/>
          <p:cNvSpPr>
            <a:spLocks noGrp="1"/>
          </p:cNvSpPr>
          <p:nvPr/>
        </p:nvSpPr>
        <p:spPr>
          <a:xfrm>
            <a:off x="3467100" y="1752600"/>
            <a:ext cx="2095500" cy="47625"/>
          </a:xfrm>
          <a:prstGeom prst="rect">
            <a:avLst/>
          </a:prstGeom>
          <a:solidFill>
            <a:srgbClr val="1D84C5"/>
          </a:solidFill>
          <a:ln w="0">
            <a:noFill/>
          </a:ln>
        </p:spPr>
      </p:sp>
      <p:sp>
        <p:nvSpPr>
          <p:cNvPr id="162" name="矩形 161"/>
          <p:cNvSpPr>
            <a:spLocks noGrp="1"/>
          </p:cNvSpPr>
          <p:nvPr/>
        </p:nvSpPr>
        <p:spPr>
          <a:xfrm>
            <a:off x="3619500" y="1924050"/>
            <a:ext cx="17907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114000"/>
              </a:lnSpc>
              <a:buNone/>
              <a:defRPr sz="12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平面模型</a:t>
            </a:r>
            <a:endParaRPr sz="1275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3" name="矩形 162"/>
          <p:cNvSpPr>
            <a:spLocks noGrp="1"/>
          </p:cNvSpPr>
          <p:nvPr/>
        </p:nvSpPr>
        <p:spPr>
          <a:xfrm>
            <a:off x="3619500" y="2257425"/>
            <a:ext cx="17907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16000"/>
              </a:lnSpc>
              <a:buNone/>
              <a:defRPr sz="101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rPr>
              <a:t>槽口尺寸100×25 mm</a:t>
            </a:r>
            <a:endParaRPr sz="1015" b="0">
              <a:solidFill>
                <a:srgbClr val="3F586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4" name="圆角矩形 163"/>
          <p:cNvSpPr>
            <a:spLocks noGrp="1"/>
          </p:cNvSpPr>
          <p:nvPr/>
        </p:nvSpPr>
        <p:spPr>
          <a:xfrm>
            <a:off x="5943600" y="1752600"/>
            <a:ext cx="2095500" cy="1000125"/>
          </a:xfrm>
          <a:prstGeom prst="roundRect">
            <a:avLst>
              <a:gd name="adj" fmla="val 11429"/>
            </a:avLst>
          </a:prstGeom>
          <a:solidFill>
            <a:srgbClr val="F5F9FC"/>
          </a:solidFill>
          <a:ln w="9525">
            <a:solidFill>
              <a:srgbClr val="C9D8E4"/>
            </a:solidFill>
            <a:prstDash val="solid"/>
          </a:ln>
        </p:spPr>
      </p:sp>
      <p:sp>
        <p:nvSpPr>
          <p:cNvPr id="165" name="矩形 164"/>
          <p:cNvSpPr>
            <a:spLocks noGrp="1"/>
          </p:cNvSpPr>
          <p:nvPr/>
        </p:nvSpPr>
        <p:spPr>
          <a:xfrm>
            <a:off x="5943600" y="1752600"/>
            <a:ext cx="2095500" cy="47625"/>
          </a:xfrm>
          <a:prstGeom prst="rect">
            <a:avLst/>
          </a:prstGeom>
          <a:solidFill>
            <a:srgbClr val="145CA8"/>
          </a:solidFill>
          <a:ln w="0">
            <a:noFill/>
          </a:ln>
        </p:spPr>
      </p:sp>
      <p:sp>
        <p:nvSpPr>
          <p:cNvPr id="166" name="矩形 165"/>
          <p:cNvSpPr>
            <a:spLocks noGrp="1"/>
          </p:cNvSpPr>
          <p:nvPr/>
        </p:nvSpPr>
        <p:spPr>
          <a:xfrm>
            <a:off x="6096000" y="1924050"/>
            <a:ext cx="17907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114000"/>
              </a:lnSpc>
              <a:buNone/>
              <a:defRPr sz="12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IPPE/PnP</a:t>
            </a:r>
            <a:endParaRPr sz="1275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7" name="矩形 166"/>
          <p:cNvSpPr>
            <a:spLocks noGrp="1"/>
          </p:cNvSpPr>
          <p:nvPr/>
        </p:nvSpPr>
        <p:spPr>
          <a:xfrm>
            <a:off x="6096000" y="2257425"/>
            <a:ext cx="17907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16000"/>
              </a:lnSpc>
              <a:buNone/>
              <a:defRPr sz="101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rPr>
              <a:t>求相机坐标系R、t</a:t>
            </a:r>
            <a:endParaRPr sz="1015" b="0">
              <a:solidFill>
                <a:srgbClr val="3F586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8" name="圆角矩形 167"/>
          <p:cNvSpPr>
            <a:spLocks noGrp="1"/>
          </p:cNvSpPr>
          <p:nvPr/>
        </p:nvSpPr>
        <p:spPr>
          <a:xfrm>
            <a:off x="8420100" y="1752600"/>
            <a:ext cx="2095500" cy="1000125"/>
          </a:xfrm>
          <a:prstGeom prst="roundRect">
            <a:avLst>
              <a:gd name="adj" fmla="val 11429"/>
            </a:avLst>
          </a:prstGeom>
          <a:solidFill>
            <a:srgbClr val="F5F9FC"/>
          </a:solidFill>
          <a:ln w="9525">
            <a:solidFill>
              <a:srgbClr val="C9D8E4"/>
            </a:solidFill>
            <a:prstDash val="solid"/>
          </a:ln>
        </p:spPr>
      </p:sp>
      <p:sp>
        <p:nvSpPr>
          <p:cNvPr id="169" name="矩形 168"/>
          <p:cNvSpPr>
            <a:spLocks noGrp="1"/>
          </p:cNvSpPr>
          <p:nvPr/>
        </p:nvSpPr>
        <p:spPr>
          <a:xfrm>
            <a:off x="8420100" y="1752600"/>
            <a:ext cx="2095500" cy="47625"/>
          </a:xfrm>
          <a:prstGeom prst="rect">
            <a:avLst/>
          </a:prstGeom>
          <a:solidFill>
            <a:srgbClr val="239B70"/>
          </a:solidFill>
          <a:ln w="0">
            <a:noFill/>
          </a:ln>
        </p:spPr>
      </p:sp>
      <p:sp>
        <p:nvSpPr>
          <p:cNvPr id="170" name="矩形 169"/>
          <p:cNvSpPr>
            <a:spLocks noGrp="1"/>
          </p:cNvSpPr>
          <p:nvPr/>
        </p:nvSpPr>
        <p:spPr>
          <a:xfrm>
            <a:off x="8572500" y="1924050"/>
            <a:ext cx="17907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114000"/>
              </a:lnSpc>
              <a:buNone/>
              <a:defRPr sz="12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姿态反馈</a:t>
            </a:r>
            <a:endParaRPr sz="1275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1" name="矩形 170"/>
          <p:cNvSpPr>
            <a:spLocks noGrp="1"/>
          </p:cNvSpPr>
          <p:nvPr/>
        </p:nvSpPr>
        <p:spPr>
          <a:xfrm>
            <a:off x="8572500" y="2257425"/>
            <a:ext cx="17907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16000"/>
              </a:lnSpc>
              <a:buNone/>
              <a:defRPr sz="101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rPr>
              <a:t>用估计法向调整相机</a:t>
            </a:r>
            <a:endParaRPr sz="1015" b="0">
              <a:solidFill>
                <a:srgbClr val="3F586A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212" name="直接箭头连接符 211"/>
          <p:cNvCxnSpPr>
            <a:stCxn id="156" idx="3"/>
            <a:endCxn id="160" idx="1"/>
          </p:cNvCxnSpPr>
          <p:nvPr/>
        </p:nvCxnSpPr>
        <p:spPr>
          <a:xfrm>
            <a:off x="3086100" y="2252663"/>
            <a:ext cx="381000" cy="0"/>
          </a:xfrm>
          <a:prstGeom prst="straightConnector1">
            <a:avLst/>
          </a:prstGeom>
          <a:ln w="16193">
            <a:solidFill>
              <a:srgbClr val="1D84C5"/>
            </a:solidFill>
            <a:prstDash val="solid"/>
            <a:tailEnd type="triangle" w="sm" len="sm"/>
          </a:ln>
        </p:spPr>
      </p:cxnSp>
      <p:cxnSp>
        <p:nvCxnSpPr>
          <p:cNvPr id="213" name="直接箭头连接符 212"/>
          <p:cNvCxnSpPr>
            <a:stCxn id="160" idx="3"/>
            <a:endCxn id="164" idx="1"/>
          </p:cNvCxnSpPr>
          <p:nvPr/>
        </p:nvCxnSpPr>
        <p:spPr>
          <a:xfrm>
            <a:off x="5562600" y="2252663"/>
            <a:ext cx="381000" cy="0"/>
          </a:xfrm>
          <a:prstGeom prst="straightConnector1">
            <a:avLst/>
          </a:prstGeom>
          <a:ln w="16193">
            <a:solidFill>
              <a:srgbClr val="1D84C5"/>
            </a:solidFill>
            <a:prstDash val="solid"/>
            <a:tailEnd type="triangle" w="sm" len="sm"/>
          </a:ln>
        </p:spPr>
      </p:cxnSp>
      <p:cxnSp>
        <p:nvCxnSpPr>
          <p:cNvPr id="214" name="直接箭头连接符 213"/>
          <p:cNvCxnSpPr>
            <a:stCxn id="164" idx="3"/>
            <a:endCxn id="168" idx="1"/>
          </p:cNvCxnSpPr>
          <p:nvPr/>
        </p:nvCxnSpPr>
        <p:spPr>
          <a:xfrm>
            <a:off x="8039100" y="2252663"/>
            <a:ext cx="381000" cy="0"/>
          </a:xfrm>
          <a:prstGeom prst="straightConnector1">
            <a:avLst/>
          </a:prstGeom>
          <a:ln w="16193">
            <a:solidFill>
              <a:srgbClr val="1D84C5"/>
            </a:solidFill>
            <a:prstDash val="solid"/>
            <a:tailEnd type="triangle" w="sm" len="sm"/>
          </a:ln>
        </p:spPr>
      </p:cxnSp>
      <p:sp>
        <p:nvSpPr>
          <p:cNvPr id="175" name="圆角矩形 174"/>
          <p:cNvSpPr>
            <a:spLocks noGrp="1"/>
          </p:cNvSpPr>
          <p:nvPr/>
        </p:nvSpPr>
        <p:spPr>
          <a:xfrm>
            <a:off x="990600" y="3143250"/>
            <a:ext cx="3714750" cy="1619250"/>
          </a:xfrm>
          <a:prstGeom prst="roundRect">
            <a:avLst>
              <a:gd name="adj" fmla="val 7059"/>
            </a:avLst>
          </a:prstGeom>
          <a:solidFill>
            <a:srgbClr val="EAF4FB"/>
          </a:solidFill>
          <a:ln w="9525">
            <a:solidFill>
              <a:srgbClr val="B6D7EA"/>
            </a:solidFill>
            <a:prstDash val="solid"/>
          </a:ln>
        </p:spPr>
      </p:sp>
      <p:sp>
        <p:nvSpPr>
          <p:cNvPr id="176" name="矩形 175"/>
          <p:cNvSpPr>
            <a:spLocks noGrp="1"/>
          </p:cNvSpPr>
          <p:nvPr/>
        </p:nvSpPr>
        <p:spPr>
          <a:xfrm>
            <a:off x="1219200" y="3324225"/>
            <a:ext cx="339852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  <a:defRPr sz="1275" b="1">
                <a:solidFill>
                  <a:srgbClr val="145CA8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sz="1000" b="1">
                <a:solidFill>
                  <a:srgbClr val="145CA8"/>
                </a:solidFill>
                <a:latin typeface="微软雅黑"/>
                <a:ea typeface="微软雅黑"/>
                <a:cs typeface="微软雅黑"/>
              </a:rPr>
              <a:t>初次尝试在黄色框内部寻找“粗四边形”，再用较宽松门限运行</a:t>
            </a:r>
            <a:r>
              <a:rPr lang="en-US" altLang="zh-CN" sz="1000" b="1">
                <a:solidFill>
                  <a:srgbClr val="145CA8"/>
                </a:solidFill>
                <a:latin typeface="微软雅黑"/>
                <a:ea typeface="微软雅黑"/>
                <a:cs typeface="微软雅黑"/>
              </a:rPr>
              <a:t>IPPE</a:t>
            </a:r>
            <a:r>
              <a:rPr lang="zh-CN" altLang="en-US" sz="1000" b="1">
                <a:solidFill>
                  <a:srgbClr val="145CA8"/>
                </a:solidFill>
                <a:latin typeface="微软雅黑"/>
                <a:ea typeface="微软雅黑"/>
                <a:cs typeface="微软雅黑"/>
              </a:rPr>
              <a:t>估计正视姿态。结果出现：</a:t>
            </a:r>
            <a:endParaRPr lang="zh-CN" altLang="en-US" sz="1000" b="1">
              <a:solidFill>
                <a:srgbClr val="145CA8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4000"/>
              </a:lnSpc>
              <a:buNone/>
              <a:defRPr sz="1275" b="1">
                <a:solidFill>
                  <a:srgbClr val="145CA8"/>
                </a:solidFill>
                <a:latin typeface="微软雅黑"/>
                <a:ea typeface="微软雅黑"/>
                <a:cs typeface="微软雅黑"/>
              </a:defRPr>
            </a:pPr>
            <a:endParaRPr lang="en-US" altLang="zh-CN" sz="1000" b="1">
              <a:solidFill>
                <a:srgbClr val="145CA8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4000"/>
              </a:lnSpc>
              <a:buNone/>
              <a:defRPr sz="1275" b="1">
                <a:solidFill>
                  <a:srgbClr val="145CA8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sz="1000" b="1">
                <a:solidFill>
                  <a:srgbClr val="145CA8"/>
                </a:solidFill>
                <a:latin typeface="微软雅黑"/>
                <a:ea typeface="微软雅黑"/>
                <a:cs typeface="微软雅黑"/>
              </a:rPr>
              <a:t>- 容易把槽内纹理或近似水平矩形当成目标边界；</a:t>
            </a:r>
            <a:endParaRPr lang="zh-CN" altLang="en-US" sz="1000" b="1">
              <a:solidFill>
                <a:srgbClr val="145CA8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4000"/>
              </a:lnSpc>
              <a:buNone/>
              <a:defRPr sz="1275" b="1">
                <a:solidFill>
                  <a:srgbClr val="145CA8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sz="1000" b="1">
                <a:solidFill>
                  <a:srgbClr val="145CA8"/>
                </a:solidFill>
                <a:latin typeface="微软雅黑"/>
                <a:ea typeface="微软雅黑"/>
                <a:cs typeface="微软雅黑"/>
              </a:rPr>
              <a:t>- 即使重投影误差很低，也不代表选中的四边形是正确物理槽口；</a:t>
            </a:r>
            <a:endParaRPr lang="zh-CN" altLang="en-US" sz="1000" b="1">
              <a:solidFill>
                <a:srgbClr val="145CA8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4000"/>
              </a:lnSpc>
              <a:buNone/>
              <a:defRPr sz="1275" b="1">
                <a:solidFill>
                  <a:srgbClr val="145CA8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sz="1000" b="1">
                <a:solidFill>
                  <a:srgbClr val="145CA8"/>
                </a:solidFill>
                <a:latin typeface="微软雅黑"/>
                <a:ea typeface="微软雅黑"/>
                <a:cs typeface="微软雅黑"/>
              </a:rPr>
              <a:t>- 四边形接近轴对齐时可能错误判断为已经正视；</a:t>
            </a:r>
            <a:endParaRPr lang="zh-CN" altLang="en-US" sz="1000" b="1">
              <a:solidFill>
                <a:srgbClr val="145CA8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4000"/>
              </a:lnSpc>
              <a:buNone/>
              <a:defRPr sz="1275" b="1">
                <a:solidFill>
                  <a:srgbClr val="145CA8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sz="1000" b="1">
                <a:solidFill>
                  <a:srgbClr val="145CA8"/>
                </a:solidFill>
                <a:latin typeface="微软雅黑"/>
                <a:ea typeface="微软雅黑"/>
                <a:cs typeface="微软雅黑"/>
              </a:rPr>
              <a:t>- 相比原来的深度法向方法，实际效果更差。</a:t>
            </a:r>
            <a:endParaRPr lang="zh-CN" altLang="en-US" sz="1000" b="1">
              <a:solidFill>
                <a:srgbClr val="145CA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8" name="圆角矩形 177"/>
          <p:cNvSpPr>
            <a:spLocks noGrp="1"/>
          </p:cNvSpPr>
          <p:nvPr/>
        </p:nvSpPr>
        <p:spPr>
          <a:xfrm>
            <a:off x="4991100" y="3143250"/>
            <a:ext cx="5410200" cy="1619250"/>
          </a:xfrm>
          <a:prstGeom prst="roundRect">
            <a:avLst>
              <a:gd name="adj" fmla="val 7059"/>
            </a:avLst>
          </a:prstGeom>
          <a:solidFill>
            <a:srgbClr val="FCEAEA"/>
          </a:solidFill>
          <a:ln w="9525">
            <a:solidFill>
              <a:srgbClr val="F0A8A8"/>
            </a:solidFill>
            <a:prstDash val="solid"/>
          </a:ln>
        </p:spPr>
      </p:sp>
      <p:sp>
        <p:nvSpPr>
          <p:cNvPr id="179" name="矩形 178"/>
          <p:cNvSpPr>
            <a:spLocks noGrp="1"/>
          </p:cNvSpPr>
          <p:nvPr/>
        </p:nvSpPr>
        <p:spPr>
          <a:xfrm>
            <a:off x="5219700" y="3324225"/>
            <a:ext cx="17145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  <a:defRPr sz="1275" b="1">
                <a:solidFill>
                  <a:srgbClr val="D8555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D85555"/>
                </a:solidFill>
                <a:latin typeface="微软雅黑"/>
                <a:ea typeface="微软雅黑"/>
                <a:cs typeface="微软雅黑"/>
              </a:rPr>
              <a:t>实验暴露的问题</a:t>
            </a:r>
            <a:endParaRPr sz="1275" b="1">
              <a:solidFill>
                <a:srgbClr val="D8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0" name="矩形 179"/>
          <p:cNvSpPr>
            <a:spLocks noGrp="1"/>
          </p:cNvSpPr>
          <p:nvPr/>
        </p:nvSpPr>
        <p:spPr>
          <a:xfrm>
            <a:off x="5219700" y="3676650"/>
            <a:ext cx="493395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65" b="0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065" b="0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• 低重投影误差不能证明四边形对应真实槽口边界</a:t>
            </a:r>
            <a:endParaRPr sz="1065" b="0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22000"/>
              </a:lnSpc>
              <a:buNone/>
              <a:defRPr sz="1065" b="0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065" b="0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• 粗IPPE法向与深度平面法向曾相差约24.9°</a:t>
            </a:r>
            <a:endParaRPr sz="1065" b="0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22000"/>
              </a:lnSpc>
              <a:buNone/>
              <a:defRPr sz="1065" b="0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065" b="0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• 一次记录中front_view约110 ms，回调总耗时约195 ms</a:t>
            </a:r>
            <a:r>
              <a:rPr lang="zh-CN" sz="1065" b="0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，测试发现主要为通信压力和计算压力，多添加环节会增加计算压力，记录如下：</a:t>
            </a:r>
            <a:endParaRPr lang="zh-CN" sz="1065" b="0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1" name="圆角矩形 180"/>
          <p:cNvSpPr>
            <a:spLocks noGrp="1"/>
          </p:cNvSpPr>
          <p:nvPr/>
        </p:nvSpPr>
        <p:spPr>
          <a:xfrm>
            <a:off x="990600" y="5162550"/>
            <a:ext cx="9410700" cy="990600"/>
          </a:xfrm>
          <a:prstGeom prst="roundRect">
            <a:avLst>
              <a:gd name="adj" fmla="val 11538"/>
            </a:avLst>
          </a:prstGeom>
          <a:solidFill>
            <a:srgbClr val="FFF1DF"/>
          </a:solidFill>
          <a:ln w="9525">
            <a:solidFill>
              <a:srgbClr val="E89332"/>
            </a:solidFill>
            <a:prstDash val="solid"/>
          </a:ln>
        </p:spPr>
      </p:sp>
      <p:sp>
        <p:nvSpPr>
          <p:cNvPr id="182" name="矩形 181"/>
          <p:cNvSpPr>
            <a:spLocks noGrp="1"/>
          </p:cNvSpPr>
          <p:nvPr/>
        </p:nvSpPr>
        <p:spPr>
          <a:xfrm>
            <a:off x="1238250" y="5372100"/>
            <a:ext cx="1143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  <a:defRPr sz="1315" b="1">
                <a:solidFill>
                  <a:srgbClr val="E89332"/>
                </a:solidFill>
                <a:latin typeface="微软雅黑"/>
                <a:ea typeface="微软雅黑"/>
                <a:cs typeface="微软雅黑"/>
              </a:defRPr>
            </a:pPr>
            <a:r>
              <a:rPr sz="1315" b="1">
                <a:solidFill>
                  <a:srgbClr val="E89332"/>
                </a:solidFill>
                <a:latin typeface="微软雅黑"/>
                <a:ea typeface="微软雅黑"/>
                <a:cs typeface="微软雅黑"/>
              </a:rPr>
              <a:t>本周取舍</a:t>
            </a:r>
            <a:endParaRPr sz="1315" b="1">
              <a:solidFill>
                <a:srgbClr val="E893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3" name="矩形 182"/>
          <p:cNvSpPr>
            <a:spLocks noGrp="1"/>
          </p:cNvSpPr>
          <p:nvPr/>
        </p:nvSpPr>
        <p:spPr>
          <a:xfrm>
            <a:off x="2514600" y="5314950"/>
            <a:ext cx="762000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  <a:defRPr sz="112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粗定位阶段移除“粗四边形+IPPE”姿态估计，恢复深度平面法向加Hough长边方案。</a:t>
            </a:r>
            <a:endParaRPr sz="1125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20000"/>
              </a:lnSpc>
              <a:buNone/>
              <a:defRPr sz="112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IPPE/PnP保留给后续精定位，前提是先获得可信的真实槽口四角。</a:t>
            </a:r>
            <a:endParaRPr sz="1125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0290" y="4290695"/>
            <a:ext cx="1692910" cy="13385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椭圆 3"/>
          <p:cNvSpPr>
            <a:spLocks noGrp="1"/>
          </p:cNvSpPr>
          <p:nvPr/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0070C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0" y="6750685"/>
            <a:ext cx="12192000" cy="114300"/>
          </a:xfrm>
          <a:prstGeom prst="rect">
            <a:avLst/>
          </a:prstGeom>
          <a:gradFill>
            <a:gsLst>
              <a:gs pos="0">
                <a:srgbClr val="002060">
                  <a:alpha val="23000"/>
                </a:srgbClr>
              </a:gs>
              <a:gs pos="100000">
                <a:srgbClr val="002060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9" name="椭圆 58"/>
          <p:cNvSpPr>
            <a:spLocks noGrp="1"/>
          </p:cNvSpPr>
          <p:nvPr/>
        </p:nvSpPr>
        <p:spPr>
          <a:xfrm>
            <a:off x="4192770" y="2411043"/>
            <a:ext cx="2344420" cy="2344420"/>
          </a:xfrm>
          <a:prstGeom prst="ellipse">
            <a:avLst/>
          </a:prstGeom>
          <a:solidFill>
            <a:srgbClr val="0070C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5" name="平行四边形 4"/>
          <p:cNvSpPr>
            <a:spLocks noGrp="1"/>
          </p:cNvSpPr>
          <p:nvPr/>
        </p:nvSpPr>
        <p:spPr>
          <a:xfrm rot="16200000">
            <a:off x="831215" y="316865"/>
            <a:ext cx="933450" cy="299720"/>
          </a:xfrm>
          <a:prstGeom prst="parallelogram">
            <a:avLst>
              <a:gd name="adj" fmla="val 76588"/>
            </a:avLst>
          </a:prstGeom>
          <a:solidFill>
            <a:srgbClr val="003B9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" name="平行四边形 6"/>
          <p:cNvSpPr>
            <a:spLocks noGrp="1"/>
          </p:cNvSpPr>
          <p:nvPr/>
        </p:nvSpPr>
        <p:spPr>
          <a:xfrm rot="20760000">
            <a:off x="-97790" y="149225"/>
            <a:ext cx="1352550" cy="675640"/>
          </a:xfrm>
          <a:prstGeom prst="parallelogram">
            <a:avLst/>
          </a:prstGeom>
          <a:gradFill>
            <a:gsLst>
              <a:gs pos="100000">
                <a:srgbClr val="003B90"/>
              </a:gs>
              <a:gs pos="0">
                <a:srgbClr val="003B90">
                  <a:alpha val="44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438275" y="224790"/>
            <a:ext cx="10763885" cy="702310"/>
          </a:xfrm>
          <a:prstGeom prst="rect">
            <a:avLst/>
          </a:prstGeom>
          <a:gradFill>
            <a:gsLst>
              <a:gs pos="16000">
                <a:srgbClr val="003B90"/>
              </a:gs>
              <a:gs pos="100000">
                <a:srgbClr val="0070C0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6" name="文本框 17"/>
          <p:cNvSpPr>
            <a:spLocks noGrp="1"/>
          </p:cNvSpPr>
          <p:nvPr/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normAutofit/>
          </a:bodyPr>
          <a:lstStyle/>
          <a:p>
            <a:pPr algn="ctr">
              <a:buNone/>
              <a:defRPr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05</a:t>
            </a:r>
            <a:endParaRPr sz="3600" b="1">
              <a:solidFill>
                <a:schemeClr val="bg1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9" name="文本框 18"/>
          <p:cNvSpPr>
            <a:spLocks noGrp="1"/>
          </p:cNvSpPr>
          <p:nvPr/>
        </p:nvSpPr>
        <p:spPr>
          <a:xfrm>
            <a:off x="1530349" y="317500"/>
            <a:ext cx="7955483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实机视频：黄色粗框与姿态反馈</a:t>
            </a:r>
            <a:endParaRPr sz="2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20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0605" y="317500"/>
            <a:ext cx="506095" cy="506095"/>
          </a:xfrm>
          <a:prstGeom prst="rect">
            <a:avLst/>
          </a:prstGeom>
        </p:spPr>
      </p:pic>
      <p:pic>
        <p:nvPicPr>
          <p:cNvPr id="121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8930" y="385445"/>
            <a:ext cx="1529715" cy="361315"/>
          </a:xfrm>
          <a:prstGeom prst="rect">
            <a:avLst/>
          </a:prstGeom>
        </p:spPr>
      </p:pic>
      <p:sp>
        <p:nvSpPr>
          <p:cNvPr id="27" name="矩形: 圆角 26"/>
          <p:cNvSpPr>
            <a:spLocks noGrp="1"/>
          </p:cNvSpPr>
          <p:nvPr/>
        </p:nvSpPr>
        <p:spPr>
          <a:xfrm>
            <a:off x="726393" y="1028700"/>
            <a:ext cx="10769470" cy="5648325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sp>
        <p:nvSpPr>
          <p:cNvPr id="100" name="圆角矩形 99"/>
          <p:cNvSpPr>
            <a:spLocks noGrp="1"/>
          </p:cNvSpPr>
          <p:nvPr/>
        </p:nvSpPr>
        <p:spPr>
          <a:xfrm>
            <a:off x="895350" y="1381125"/>
            <a:ext cx="6800850" cy="4038600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4288">
            <a:solidFill>
              <a:srgbClr val="22A9D6"/>
            </a:solidFill>
            <a:prstDash val="solid"/>
          </a:ln>
        </p:spPr>
      </p:sp>
      <p:sp>
        <p:nvSpPr>
          <p:cNvPr id="102" name="矩形 101"/>
          <p:cNvSpPr>
            <a:spLocks noGrp="1"/>
          </p:cNvSpPr>
          <p:nvPr/>
        </p:nvSpPr>
        <p:spPr>
          <a:xfrm>
            <a:off x="8020050" y="1409700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  <a:defRPr sz="142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视频中可见</a:t>
            </a:r>
            <a:endParaRPr sz="1425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3" name="矩形 102"/>
          <p:cNvSpPr>
            <a:spLocks noGrp="1"/>
          </p:cNvSpPr>
          <p:nvPr/>
        </p:nvSpPr>
        <p:spPr>
          <a:xfrm>
            <a:off x="8020050" y="1847850"/>
            <a:ext cx="2476500" cy="1352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24000"/>
              </a:lnSpc>
              <a:buNone/>
              <a:defRPr sz="103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defRPr>
            </a:pPr>
            <a:r>
              <a:rPr sz="103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rPr>
              <a:t>黄色框：YOLO单槽口粗定位</a:t>
            </a:r>
            <a:endParaRPr sz="1035" b="0">
              <a:solidFill>
                <a:srgbClr val="3F586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24000"/>
              </a:lnSpc>
              <a:buNone/>
              <a:defRPr sz="103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defRPr>
            </a:pPr>
            <a:r>
              <a:rPr sz="103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rPr>
              <a:t>状态栏：倾角与roll估计</a:t>
            </a:r>
            <a:endParaRPr sz="1035" b="0">
              <a:solidFill>
                <a:srgbClr val="3F586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24000"/>
              </a:lnSpc>
              <a:buNone/>
              <a:defRPr sz="103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defRPr>
            </a:pPr>
            <a:r>
              <a:rPr sz="103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rPr>
              <a:t>左下角：相机坐标系旋转反馈</a:t>
            </a:r>
            <a:endParaRPr sz="1035" b="0">
              <a:solidFill>
                <a:srgbClr val="3F586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24000"/>
              </a:lnSpc>
              <a:buNone/>
              <a:defRPr sz="103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defRPr>
            </a:pPr>
            <a:r>
              <a:rPr sz="1035" b="0">
                <a:solidFill>
                  <a:srgbClr val="3F586A"/>
                </a:solidFill>
                <a:latin typeface="微软雅黑"/>
                <a:ea typeface="微软雅黑"/>
                <a:cs typeface="微软雅黑"/>
              </a:rPr>
              <a:t>偏转过大：ORIENTATION_UNKNOWN</a:t>
            </a:r>
            <a:endParaRPr sz="1035" b="0">
              <a:solidFill>
                <a:srgbClr val="3F586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4" name="圆角矩形 103"/>
          <p:cNvSpPr>
            <a:spLocks noGrp="1"/>
          </p:cNvSpPr>
          <p:nvPr/>
        </p:nvSpPr>
        <p:spPr>
          <a:xfrm>
            <a:off x="8020050" y="3419475"/>
            <a:ext cx="2476500" cy="1057275"/>
          </a:xfrm>
          <a:prstGeom prst="roundRect">
            <a:avLst>
              <a:gd name="adj" fmla="val 10811"/>
            </a:avLst>
          </a:prstGeom>
          <a:solidFill>
            <a:srgbClr val="E8F5EF"/>
          </a:solidFill>
          <a:ln w="9525">
            <a:solidFill>
              <a:srgbClr val="239B70"/>
            </a:solidFill>
            <a:prstDash val="solid"/>
          </a:ln>
        </p:spPr>
      </p:sp>
      <p:sp>
        <p:nvSpPr>
          <p:cNvPr id="105" name="矩形 104"/>
          <p:cNvSpPr>
            <a:spLocks noGrp="1"/>
          </p:cNvSpPr>
          <p:nvPr/>
        </p:nvSpPr>
        <p:spPr>
          <a:xfrm>
            <a:off x="8210550" y="3590925"/>
            <a:ext cx="952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  <a:defRPr sz="1200" b="1">
                <a:solidFill>
                  <a:srgbClr val="239B7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239B70"/>
                </a:solidFill>
                <a:latin typeface="微软雅黑"/>
                <a:ea typeface="微软雅黑"/>
                <a:cs typeface="微软雅黑"/>
              </a:rPr>
              <a:t>当前输出</a:t>
            </a:r>
            <a:endParaRPr sz="1200" b="1">
              <a:solidFill>
                <a:srgbClr val="239B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6" name="矩形 105"/>
          <p:cNvSpPr>
            <a:spLocks noGrp="1"/>
          </p:cNvSpPr>
          <p:nvPr/>
        </p:nvSpPr>
        <p:spPr>
          <a:xfrm>
            <a:off x="8210550" y="3905250"/>
            <a:ext cx="2095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114000"/>
              </a:lnSpc>
              <a:buNone/>
              <a:defRPr sz="1030" b="0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030" b="0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旋转向量：rad</a:t>
            </a:r>
            <a:endParaRPr sz="1030" b="0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14000"/>
              </a:lnSpc>
              <a:buNone/>
              <a:defRPr sz="1030" b="0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030" b="0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连续5帧满足门限后置位aligned</a:t>
            </a:r>
            <a:endParaRPr sz="1030" b="0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7" name="圆角矩形 106"/>
          <p:cNvSpPr>
            <a:spLocks noGrp="1"/>
          </p:cNvSpPr>
          <p:nvPr/>
        </p:nvSpPr>
        <p:spPr>
          <a:xfrm>
            <a:off x="8020050" y="4667250"/>
            <a:ext cx="2476500" cy="752475"/>
          </a:xfrm>
          <a:prstGeom prst="roundRect">
            <a:avLst>
              <a:gd name="adj" fmla="val 15190"/>
            </a:avLst>
          </a:prstGeom>
          <a:solidFill>
            <a:srgbClr val="FFF1DF"/>
          </a:solidFill>
          <a:ln w="9525">
            <a:solidFill>
              <a:srgbClr val="E89332"/>
            </a:solidFill>
            <a:prstDash val="solid"/>
          </a:ln>
        </p:spPr>
      </p:sp>
      <p:sp>
        <p:nvSpPr>
          <p:cNvPr id="108" name="矩形 107"/>
          <p:cNvSpPr>
            <a:spLocks noGrp="1"/>
          </p:cNvSpPr>
          <p:nvPr/>
        </p:nvSpPr>
        <p:spPr>
          <a:xfrm>
            <a:off x="8210550" y="4829175"/>
            <a:ext cx="952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  <a:defRPr sz="1200" b="1">
                <a:solidFill>
                  <a:srgbClr val="E8933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E89332"/>
                </a:solidFill>
                <a:latin typeface="微软雅黑"/>
                <a:ea typeface="微软雅黑"/>
                <a:cs typeface="微软雅黑"/>
              </a:rPr>
              <a:t>尚未输出</a:t>
            </a:r>
            <a:endParaRPr sz="1200" b="1">
              <a:solidFill>
                <a:srgbClr val="E893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9" name="矩形 108"/>
          <p:cNvSpPr>
            <a:spLocks noGrp="1"/>
          </p:cNvSpPr>
          <p:nvPr/>
        </p:nvSpPr>
        <p:spPr>
          <a:xfrm>
            <a:off x="9105900" y="4810125"/>
            <a:ext cx="12001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114000"/>
              </a:lnSpc>
              <a:buNone/>
              <a:defRPr sz="1015" b="0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X/Y平移与机器人基坐标修正</a:t>
            </a:r>
            <a:endParaRPr sz="1015" b="0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0" name="圆角矩形 109"/>
          <p:cNvSpPr>
            <a:spLocks noGrp="1"/>
          </p:cNvSpPr>
          <p:nvPr/>
        </p:nvSpPr>
        <p:spPr>
          <a:xfrm>
            <a:off x="895350" y="5695950"/>
            <a:ext cx="9601200" cy="523875"/>
          </a:xfrm>
          <a:prstGeom prst="roundRect">
            <a:avLst>
              <a:gd name="adj" fmla="val 21818"/>
            </a:avLst>
          </a:prstGeom>
          <a:solidFill>
            <a:srgbClr val="EAF4FB"/>
          </a:solidFill>
          <a:ln w="9525">
            <a:solidFill>
              <a:srgbClr val="B6D7EA"/>
            </a:solidFill>
            <a:prstDash val="solid"/>
          </a:ln>
        </p:spPr>
      </p:sp>
      <p:sp>
        <p:nvSpPr>
          <p:cNvPr id="111" name="矩形 110"/>
          <p:cNvSpPr>
            <a:spLocks noGrp="1"/>
          </p:cNvSpPr>
          <p:nvPr/>
        </p:nvSpPr>
        <p:spPr>
          <a:xfrm>
            <a:off x="1123950" y="5838825"/>
            <a:ext cx="9144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114000"/>
              </a:lnSpc>
              <a:buNone/>
              <a:defRPr sz="1090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视频证明粗检测和姿态反馈已在D435实时链路中运行；视频不证明精定位精度或机械臂闭环完成。</a:t>
            </a:r>
            <a:endParaRPr sz="1090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500" name="粗定位与正视反馈视频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71550" y="1485900"/>
            <a:ext cx="6648450" cy="3543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椭圆 3"/>
          <p:cNvSpPr>
            <a:spLocks noGrp="1"/>
          </p:cNvSpPr>
          <p:nvPr/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0070C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0" y="6750685"/>
            <a:ext cx="12192000" cy="114300"/>
          </a:xfrm>
          <a:prstGeom prst="rect">
            <a:avLst/>
          </a:prstGeom>
          <a:gradFill>
            <a:gsLst>
              <a:gs pos="0">
                <a:srgbClr val="002060">
                  <a:alpha val="23000"/>
                </a:srgbClr>
              </a:gs>
              <a:gs pos="100000">
                <a:srgbClr val="002060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9" name="椭圆 58"/>
          <p:cNvSpPr>
            <a:spLocks noGrp="1"/>
          </p:cNvSpPr>
          <p:nvPr/>
        </p:nvSpPr>
        <p:spPr>
          <a:xfrm>
            <a:off x="4192770" y="2411043"/>
            <a:ext cx="2344420" cy="2344420"/>
          </a:xfrm>
          <a:prstGeom prst="ellipse">
            <a:avLst/>
          </a:prstGeom>
          <a:solidFill>
            <a:srgbClr val="0070C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5" name="平行四边形 4"/>
          <p:cNvSpPr>
            <a:spLocks noGrp="1"/>
          </p:cNvSpPr>
          <p:nvPr/>
        </p:nvSpPr>
        <p:spPr>
          <a:xfrm rot="16200000">
            <a:off x="831215" y="316865"/>
            <a:ext cx="933450" cy="299720"/>
          </a:xfrm>
          <a:prstGeom prst="parallelogram">
            <a:avLst>
              <a:gd name="adj" fmla="val 76588"/>
            </a:avLst>
          </a:prstGeom>
          <a:solidFill>
            <a:srgbClr val="003B9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" name="平行四边形 6"/>
          <p:cNvSpPr>
            <a:spLocks noGrp="1"/>
          </p:cNvSpPr>
          <p:nvPr/>
        </p:nvSpPr>
        <p:spPr>
          <a:xfrm rot="20760000">
            <a:off x="-97790" y="149225"/>
            <a:ext cx="1352550" cy="675640"/>
          </a:xfrm>
          <a:prstGeom prst="parallelogram">
            <a:avLst/>
          </a:prstGeom>
          <a:gradFill>
            <a:gsLst>
              <a:gs pos="100000">
                <a:srgbClr val="003B90"/>
              </a:gs>
              <a:gs pos="0">
                <a:srgbClr val="003B90">
                  <a:alpha val="44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438275" y="224790"/>
            <a:ext cx="10763885" cy="702310"/>
          </a:xfrm>
          <a:prstGeom prst="rect">
            <a:avLst/>
          </a:prstGeom>
          <a:gradFill>
            <a:gsLst>
              <a:gs pos="16000">
                <a:srgbClr val="003B90"/>
              </a:gs>
              <a:gs pos="100000">
                <a:srgbClr val="0070C0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6" name="文本框 17"/>
          <p:cNvSpPr>
            <a:spLocks noGrp="1"/>
          </p:cNvSpPr>
          <p:nvPr/>
        </p:nvSpPr>
        <p:spPr>
          <a:xfrm rot="20700000">
            <a:off x="151765" y="144463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normAutofit/>
          </a:bodyPr>
          <a:lstStyle/>
          <a:p>
            <a:pPr algn="ctr">
              <a:buNone/>
              <a:defRPr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06</a:t>
            </a:r>
            <a:endParaRPr sz="3600" b="1">
              <a:solidFill>
                <a:schemeClr val="bg1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9" name="文本框 18"/>
          <p:cNvSpPr>
            <a:spLocks noGrp="1"/>
          </p:cNvSpPr>
          <p:nvPr/>
        </p:nvSpPr>
        <p:spPr>
          <a:xfrm>
            <a:off x="1530349" y="317500"/>
            <a:ext cx="7955483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本周进度边界与下一阶段</a:t>
            </a:r>
            <a:endParaRPr sz="2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7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0605" y="317500"/>
            <a:ext cx="506095" cy="506095"/>
          </a:xfrm>
          <a:prstGeom prst="rect">
            <a:avLst/>
          </a:prstGeom>
        </p:spPr>
      </p:pic>
      <p:pic>
        <p:nvPicPr>
          <p:cNvPr id="277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8930" y="385445"/>
            <a:ext cx="1529715" cy="361315"/>
          </a:xfrm>
          <a:prstGeom prst="rect">
            <a:avLst/>
          </a:prstGeom>
        </p:spPr>
      </p:pic>
      <p:sp>
        <p:nvSpPr>
          <p:cNvPr id="27" name="矩形: 圆角 26"/>
          <p:cNvSpPr>
            <a:spLocks noGrp="1"/>
          </p:cNvSpPr>
          <p:nvPr/>
        </p:nvSpPr>
        <p:spPr>
          <a:xfrm>
            <a:off x="726393" y="1028700"/>
            <a:ext cx="10769470" cy="5648325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9525">
            <a:solidFill>
              <a:srgbClr val="D8E1E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sp>
        <p:nvSpPr>
          <p:cNvPr id="234" name="矩形 233"/>
          <p:cNvSpPr>
            <a:spLocks noGrp="1"/>
          </p:cNvSpPr>
          <p:nvPr/>
        </p:nvSpPr>
        <p:spPr>
          <a:xfrm>
            <a:off x="990600" y="1352550"/>
            <a:ext cx="1524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  <a:defRPr sz="142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阶段路线</a:t>
            </a:r>
            <a:endParaRPr sz="1425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5" name="圆角矩形 234"/>
          <p:cNvSpPr>
            <a:spLocks noGrp="1"/>
          </p:cNvSpPr>
          <p:nvPr/>
        </p:nvSpPr>
        <p:spPr>
          <a:xfrm>
            <a:off x="990600" y="1752600"/>
            <a:ext cx="1638300" cy="1104900"/>
          </a:xfrm>
          <a:prstGeom prst="roundRect">
            <a:avLst>
              <a:gd name="adj" fmla="val 10345"/>
            </a:avLst>
          </a:prstGeom>
          <a:solidFill>
            <a:srgbClr val="E8F5EF"/>
          </a:solidFill>
          <a:ln w="9525">
            <a:solidFill>
              <a:srgbClr val="A8DCC8"/>
            </a:solidFill>
            <a:prstDash val="solid"/>
          </a:ln>
        </p:spPr>
      </p:sp>
      <p:sp>
        <p:nvSpPr>
          <p:cNvPr id="236" name="矩形 235"/>
          <p:cNvSpPr>
            <a:spLocks noGrp="1"/>
          </p:cNvSpPr>
          <p:nvPr/>
        </p:nvSpPr>
        <p:spPr>
          <a:xfrm>
            <a:off x="990600" y="1752600"/>
            <a:ext cx="1638300" cy="47625"/>
          </a:xfrm>
          <a:prstGeom prst="rect">
            <a:avLst/>
          </a:prstGeom>
          <a:solidFill>
            <a:srgbClr val="239B70"/>
          </a:solidFill>
          <a:ln w="0">
            <a:noFill/>
          </a:ln>
        </p:spPr>
      </p:sp>
      <p:sp>
        <p:nvSpPr>
          <p:cNvPr id="237" name="矩形 236"/>
          <p:cNvSpPr>
            <a:spLocks noGrp="1"/>
          </p:cNvSpPr>
          <p:nvPr/>
        </p:nvSpPr>
        <p:spPr>
          <a:xfrm>
            <a:off x="1143000" y="1924050"/>
            <a:ext cx="1333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114000"/>
              </a:lnSpc>
              <a:buNone/>
              <a:defRPr sz="12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粗检测链路</a:t>
            </a:r>
            <a:endParaRPr sz="1275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8" name="矩形 237"/>
          <p:cNvSpPr>
            <a:spLocks noGrp="1"/>
          </p:cNvSpPr>
          <p:nvPr/>
        </p:nvSpPr>
        <p:spPr>
          <a:xfrm>
            <a:off x="1143000" y="2257425"/>
            <a:ext cx="1333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16000"/>
              </a:lnSpc>
              <a:buNone/>
              <a:defRPr sz="990" b="0">
                <a:solidFill>
                  <a:srgbClr val="3F586A"/>
                </a:solidFill>
                <a:latin typeface="微软雅黑"/>
                <a:ea typeface="微软雅黑"/>
                <a:cs typeface="微软雅黑"/>
              </a:defRPr>
            </a:pPr>
            <a:r>
              <a:rPr sz="990" b="0">
                <a:solidFill>
                  <a:srgbClr val="3F586A"/>
                </a:solidFill>
                <a:latin typeface="微软雅黑"/>
                <a:ea typeface="微软雅黑"/>
                <a:cs typeface="微软雅黑"/>
              </a:rPr>
              <a:t>单槽口ROI</a:t>
            </a:r>
            <a:endParaRPr sz="990" b="0">
              <a:solidFill>
                <a:srgbClr val="3F586A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16000"/>
              </a:lnSpc>
              <a:buNone/>
              <a:defRPr sz="990" b="0">
                <a:solidFill>
                  <a:srgbClr val="3F586A"/>
                </a:solidFill>
                <a:latin typeface="微软雅黑"/>
                <a:ea typeface="微软雅黑"/>
                <a:cs typeface="微软雅黑"/>
              </a:defRPr>
            </a:pPr>
            <a:r>
              <a:rPr sz="990" b="0">
                <a:solidFill>
                  <a:srgbClr val="3F586A"/>
                </a:solidFill>
                <a:latin typeface="微软雅黑"/>
                <a:ea typeface="微软雅黑"/>
                <a:cs typeface="微软雅黑"/>
              </a:rPr>
              <a:t>本周完成</a:t>
            </a:r>
            <a:endParaRPr sz="990" b="0">
              <a:solidFill>
                <a:srgbClr val="3F586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9" name="圆角矩形 238"/>
          <p:cNvSpPr>
            <a:spLocks noGrp="1"/>
          </p:cNvSpPr>
          <p:nvPr/>
        </p:nvSpPr>
        <p:spPr>
          <a:xfrm>
            <a:off x="2914650" y="1752600"/>
            <a:ext cx="1638300" cy="1104900"/>
          </a:xfrm>
          <a:prstGeom prst="roundRect">
            <a:avLst>
              <a:gd name="adj" fmla="val 10345"/>
            </a:avLst>
          </a:prstGeom>
          <a:solidFill>
            <a:srgbClr val="E8F5EF"/>
          </a:solidFill>
          <a:ln w="9525">
            <a:solidFill>
              <a:srgbClr val="A8DCC8"/>
            </a:solidFill>
            <a:prstDash val="solid"/>
          </a:ln>
        </p:spPr>
      </p:sp>
      <p:sp>
        <p:nvSpPr>
          <p:cNvPr id="240" name="矩形 239"/>
          <p:cNvSpPr>
            <a:spLocks noGrp="1"/>
          </p:cNvSpPr>
          <p:nvPr/>
        </p:nvSpPr>
        <p:spPr>
          <a:xfrm>
            <a:off x="2914650" y="1752600"/>
            <a:ext cx="1638300" cy="47625"/>
          </a:xfrm>
          <a:prstGeom prst="rect">
            <a:avLst/>
          </a:prstGeom>
          <a:solidFill>
            <a:srgbClr val="239B70"/>
          </a:solidFill>
          <a:ln w="0">
            <a:noFill/>
          </a:ln>
        </p:spPr>
      </p:sp>
      <p:sp>
        <p:nvSpPr>
          <p:cNvPr id="241" name="矩形 240"/>
          <p:cNvSpPr>
            <a:spLocks noGrp="1"/>
          </p:cNvSpPr>
          <p:nvPr/>
        </p:nvSpPr>
        <p:spPr>
          <a:xfrm>
            <a:off x="3067050" y="1924050"/>
            <a:ext cx="1333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114000"/>
              </a:lnSpc>
              <a:buNone/>
              <a:defRPr sz="12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正视反馈验证</a:t>
            </a:r>
            <a:endParaRPr sz="1275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2" name="矩形 241"/>
          <p:cNvSpPr>
            <a:spLocks noGrp="1"/>
          </p:cNvSpPr>
          <p:nvPr/>
        </p:nvSpPr>
        <p:spPr>
          <a:xfrm>
            <a:off x="3067050" y="2257425"/>
            <a:ext cx="1333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16000"/>
              </a:lnSpc>
              <a:buNone/>
              <a:defRPr sz="990" b="0">
                <a:solidFill>
                  <a:srgbClr val="3F586A"/>
                </a:solidFill>
                <a:latin typeface="微软雅黑"/>
                <a:ea typeface="微软雅黑"/>
                <a:cs typeface="微软雅黑"/>
              </a:defRPr>
            </a:pPr>
            <a:r>
              <a:rPr sz="990" b="0">
                <a:solidFill>
                  <a:srgbClr val="3F586A"/>
                </a:solidFill>
                <a:latin typeface="微软雅黑"/>
                <a:ea typeface="微软雅黑"/>
                <a:cs typeface="微软雅黑"/>
              </a:rPr>
              <a:t>倾角与roll</a:t>
            </a:r>
            <a:endParaRPr sz="990" b="0">
              <a:solidFill>
                <a:srgbClr val="3F586A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16000"/>
              </a:lnSpc>
              <a:buNone/>
              <a:defRPr sz="990" b="0">
                <a:solidFill>
                  <a:srgbClr val="3F586A"/>
                </a:solidFill>
                <a:latin typeface="微软雅黑"/>
                <a:ea typeface="微软雅黑"/>
                <a:cs typeface="微软雅黑"/>
              </a:defRPr>
            </a:pPr>
            <a:r>
              <a:rPr sz="990" b="0">
                <a:solidFill>
                  <a:srgbClr val="3F586A"/>
                </a:solidFill>
                <a:latin typeface="微软雅黑"/>
                <a:ea typeface="微软雅黑"/>
                <a:cs typeface="微软雅黑"/>
              </a:rPr>
              <a:t>当前重点</a:t>
            </a:r>
            <a:endParaRPr sz="990" b="0">
              <a:solidFill>
                <a:srgbClr val="3F586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3" name="圆角矩形 242"/>
          <p:cNvSpPr>
            <a:spLocks noGrp="1"/>
          </p:cNvSpPr>
          <p:nvPr/>
        </p:nvSpPr>
        <p:spPr>
          <a:xfrm>
            <a:off x="4838700" y="1752600"/>
            <a:ext cx="1638300" cy="1104900"/>
          </a:xfrm>
          <a:prstGeom prst="roundRect">
            <a:avLst>
              <a:gd name="adj" fmla="val 10345"/>
            </a:avLst>
          </a:prstGeom>
          <a:solidFill>
            <a:srgbClr val="FFF1DF"/>
          </a:solidFill>
          <a:ln w="9525">
            <a:solidFill>
              <a:srgbClr val="F4C98E"/>
            </a:solidFill>
            <a:prstDash val="solid"/>
          </a:ln>
        </p:spPr>
      </p:sp>
      <p:sp>
        <p:nvSpPr>
          <p:cNvPr id="244" name="矩形 243"/>
          <p:cNvSpPr>
            <a:spLocks noGrp="1"/>
          </p:cNvSpPr>
          <p:nvPr/>
        </p:nvSpPr>
        <p:spPr>
          <a:xfrm>
            <a:off x="4838700" y="1752600"/>
            <a:ext cx="1638300" cy="47625"/>
          </a:xfrm>
          <a:prstGeom prst="rect">
            <a:avLst/>
          </a:prstGeom>
          <a:solidFill>
            <a:srgbClr val="E89332"/>
          </a:solidFill>
          <a:ln w="0">
            <a:noFill/>
          </a:ln>
        </p:spPr>
      </p:sp>
      <p:sp>
        <p:nvSpPr>
          <p:cNvPr id="245" name="矩形 244"/>
          <p:cNvSpPr>
            <a:spLocks noGrp="1"/>
          </p:cNvSpPr>
          <p:nvPr/>
        </p:nvSpPr>
        <p:spPr>
          <a:xfrm>
            <a:off x="4991100" y="1924050"/>
            <a:ext cx="1333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114000"/>
              </a:lnSpc>
              <a:buNone/>
              <a:defRPr sz="12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调整精定位</a:t>
            </a:r>
            <a:endParaRPr sz="1275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6" name="矩形 245"/>
          <p:cNvSpPr>
            <a:spLocks noGrp="1"/>
          </p:cNvSpPr>
          <p:nvPr/>
        </p:nvSpPr>
        <p:spPr>
          <a:xfrm>
            <a:off x="4991100" y="2257425"/>
            <a:ext cx="1333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16000"/>
              </a:lnSpc>
              <a:buNone/>
              <a:defRPr sz="990" b="0">
                <a:solidFill>
                  <a:srgbClr val="3F586A"/>
                </a:solidFill>
                <a:latin typeface="微软雅黑"/>
                <a:ea typeface="微软雅黑"/>
                <a:cs typeface="微软雅黑"/>
              </a:defRPr>
            </a:pPr>
            <a:r>
              <a:rPr sz="990" b="0">
                <a:solidFill>
                  <a:srgbClr val="3F586A"/>
                </a:solidFill>
                <a:latin typeface="微软雅黑"/>
                <a:ea typeface="微软雅黑"/>
                <a:cs typeface="微软雅黑"/>
              </a:rPr>
              <a:t>四角与IPPE/PnP</a:t>
            </a:r>
            <a:endParaRPr sz="990" b="0">
              <a:solidFill>
                <a:srgbClr val="3F586A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16000"/>
              </a:lnSpc>
              <a:buNone/>
              <a:defRPr sz="990" b="0">
                <a:solidFill>
                  <a:srgbClr val="3F586A"/>
                </a:solidFill>
                <a:latin typeface="微软雅黑"/>
                <a:ea typeface="微软雅黑"/>
                <a:cs typeface="微软雅黑"/>
              </a:defRPr>
            </a:pPr>
            <a:r>
              <a:rPr sz="990" b="0">
                <a:solidFill>
                  <a:srgbClr val="3F586A"/>
                </a:solidFill>
                <a:latin typeface="微软雅黑"/>
                <a:ea typeface="微软雅黑"/>
                <a:cs typeface="微软雅黑"/>
              </a:rPr>
              <a:t>下一任务</a:t>
            </a:r>
            <a:endParaRPr sz="990" b="0">
              <a:solidFill>
                <a:srgbClr val="3F586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7" name="圆角矩形 246"/>
          <p:cNvSpPr>
            <a:spLocks noGrp="1"/>
          </p:cNvSpPr>
          <p:nvPr/>
        </p:nvSpPr>
        <p:spPr>
          <a:xfrm>
            <a:off x="6762750" y="1752600"/>
            <a:ext cx="1638300" cy="1104900"/>
          </a:xfrm>
          <a:prstGeom prst="roundRect">
            <a:avLst>
              <a:gd name="adj" fmla="val 10345"/>
            </a:avLst>
          </a:prstGeom>
          <a:solidFill>
            <a:srgbClr val="FFF1DF"/>
          </a:solidFill>
          <a:ln w="9525">
            <a:solidFill>
              <a:srgbClr val="F4C98E"/>
            </a:solidFill>
            <a:prstDash val="solid"/>
          </a:ln>
        </p:spPr>
      </p:sp>
      <p:sp>
        <p:nvSpPr>
          <p:cNvPr id="248" name="矩形 247"/>
          <p:cNvSpPr>
            <a:spLocks noGrp="1"/>
          </p:cNvSpPr>
          <p:nvPr/>
        </p:nvSpPr>
        <p:spPr>
          <a:xfrm>
            <a:off x="6762750" y="1752600"/>
            <a:ext cx="1638300" cy="47625"/>
          </a:xfrm>
          <a:prstGeom prst="rect">
            <a:avLst/>
          </a:prstGeom>
          <a:solidFill>
            <a:srgbClr val="1D84C5"/>
          </a:solidFill>
          <a:ln w="0">
            <a:noFill/>
          </a:ln>
        </p:spPr>
      </p:sp>
      <p:sp>
        <p:nvSpPr>
          <p:cNvPr id="249" name="矩形 248"/>
          <p:cNvSpPr>
            <a:spLocks noGrp="1"/>
          </p:cNvSpPr>
          <p:nvPr/>
        </p:nvSpPr>
        <p:spPr>
          <a:xfrm>
            <a:off x="6915150" y="1924050"/>
            <a:ext cx="1333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114000"/>
              </a:lnSpc>
              <a:buNone/>
              <a:defRPr sz="12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固定D435</a:t>
            </a:r>
            <a:endParaRPr sz="1275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0" name="矩形 249"/>
          <p:cNvSpPr>
            <a:spLocks noGrp="1"/>
          </p:cNvSpPr>
          <p:nvPr/>
        </p:nvSpPr>
        <p:spPr>
          <a:xfrm>
            <a:off x="6915150" y="2257425"/>
            <a:ext cx="1333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16000"/>
              </a:lnSpc>
              <a:buNone/>
              <a:defRPr sz="990" b="0">
                <a:solidFill>
                  <a:srgbClr val="3F586A"/>
                </a:solidFill>
                <a:latin typeface="微软雅黑"/>
                <a:ea typeface="微软雅黑"/>
                <a:cs typeface="微软雅黑"/>
              </a:defRPr>
            </a:pPr>
            <a:r>
              <a:rPr sz="990" b="0">
                <a:solidFill>
                  <a:srgbClr val="3F586A"/>
                </a:solidFill>
                <a:latin typeface="微软雅黑"/>
                <a:ea typeface="微软雅黑"/>
                <a:cs typeface="微软雅黑"/>
              </a:rPr>
              <a:t>手眼标定</a:t>
            </a:r>
            <a:endParaRPr sz="990" b="0">
              <a:solidFill>
                <a:srgbClr val="3F586A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16000"/>
              </a:lnSpc>
              <a:buNone/>
              <a:defRPr sz="990" b="0">
                <a:solidFill>
                  <a:srgbClr val="3F586A"/>
                </a:solidFill>
                <a:latin typeface="微软雅黑"/>
                <a:ea typeface="微软雅黑"/>
                <a:cs typeface="微软雅黑"/>
              </a:defRPr>
            </a:pPr>
            <a:r>
              <a:rPr sz="990" b="0">
                <a:solidFill>
                  <a:srgbClr val="3F586A"/>
                </a:solidFill>
                <a:latin typeface="微软雅黑"/>
                <a:ea typeface="微软雅黑"/>
                <a:cs typeface="微软雅黑"/>
              </a:rPr>
              <a:t>坐标转换</a:t>
            </a:r>
            <a:endParaRPr sz="990" b="0">
              <a:solidFill>
                <a:srgbClr val="3F586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1" name="圆角矩形 250"/>
          <p:cNvSpPr>
            <a:spLocks noGrp="1"/>
          </p:cNvSpPr>
          <p:nvPr/>
        </p:nvSpPr>
        <p:spPr>
          <a:xfrm>
            <a:off x="8686800" y="1752600"/>
            <a:ext cx="1638300" cy="1104900"/>
          </a:xfrm>
          <a:prstGeom prst="roundRect">
            <a:avLst>
              <a:gd name="adj" fmla="val 10345"/>
            </a:avLst>
          </a:prstGeom>
          <a:solidFill>
            <a:srgbClr val="FFF1DF"/>
          </a:solidFill>
          <a:ln w="9525">
            <a:solidFill>
              <a:srgbClr val="F4C98E"/>
            </a:solidFill>
            <a:prstDash val="solid"/>
          </a:ln>
        </p:spPr>
      </p:sp>
      <p:sp>
        <p:nvSpPr>
          <p:cNvPr id="252" name="矩形 251"/>
          <p:cNvSpPr>
            <a:spLocks noGrp="1"/>
          </p:cNvSpPr>
          <p:nvPr/>
        </p:nvSpPr>
        <p:spPr>
          <a:xfrm>
            <a:off x="8686800" y="1752600"/>
            <a:ext cx="1638300" cy="47625"/>
          </a:xfrm>
          <a:prstGeom prst="rect">
            <a:avLst/>
          </a:prstGeom>
          <a:solidFill>
            <a:srgbClr val="145CA8"/>
          </a:solidFill>
          <a:ln w="0">
            <a:noFill/>
          </a:ln>
        </p:spPr>
      </p:sp>
      <p:sp>
        <p:nvSpPr>
          <p:cNvPr id="253" name="矩形 252"/>
          <p:cNvSpPr>
            <a:spLocks noGrp="1"/>
          </p:cNvSpPr>
          <p:nvPr/>
        </p:nvSpPr>
        <p:spPr>
          <a:xfrm>
            <a:off x="8839200" y="1924050"/>
            <a:ext cx="1333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114000"/>
              </a:lnSpc>
              <a:buNone/>
              <a:defRPr sz="12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实物联调</a:t>
            </a:r>
            <a:endParaRPr sz="1275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4" name="矩形 253"/>
          <p:cNvSpPr>
            <a:spLocks noGrp="1"/>
          </p:cNvSpPr>
          <p:nvPr/>
        </p:nvSpPr>
        <p:spPr>
          <a:xfrm>
            <a:off x="8839200" y="2257425"/>
            <a:ext cx="1333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16000"/>
              </a:lnSpc>
              <a:buNone/>
              <a:defRPr sz="990" b="0">
                <a:solidFill>
                  <a:srgbClr val="3F586A"/>
                </a:solidFill>
                <a:latin typeface="微软雅黑"/>
                <a:ea typeface="微软雅黑"/>
                <a:cs typeface="微软雅黑"/>
              </a:defRPr>
            </a:pPr>
            <a:r>
              <a:rPr sz="990" b="0">
                <a:solidFill>
                  <a:srgbClr val="3F586A"/>
                </a:solidFill>
                <a:latin typeface="微软雅黑"/>
                <a:ea typeface="微软雅黑"/>
                <a:cs typeface="微软雅黑"/>
              </a:rPr>
              <a:t>机械臂接近</a:t>
            </a:r>
            <a:endParaRPr sz="990" b="0">
              <a:solidFill>
                <a:srgbClr val="3F586A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16000"/>
              </a:lnSpc>
              <a:buNone/>
              <a:defRPr sz="990" b="0">
                <a:solidFill>
                  <a:srgbClr val="3F586A"/>
                </a:solidFill>
                <a:latin typeface="微软雅黑"/>
                <a:ea typeface="微软雅黑"/>
                <a:cs typeface="微软雅黑"/>
              </a:defRPr>
            </a:pPr>
            <a:r>
              <a:rPr sz="990" b="0">
                <a:solidFill>
                  <a:srgbClr val="3F586A"/>
                </a:solidFill>
                <a:latin typeface="微软雅黑"/>
                <a:ea typeface="微软雅黑"/>
                <a:cs typeface="微软雅黑"/>
              </a:rPr>
              <a:t>插入验证</a:t>
            </a:r>
            <a:endParaRPr sz="990" b="0">
              <a:solidFill>
                <a:srgbClr val="3F586A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300" name="直接箭头连接符 299"/>
          <p:cNvCxnSpPr>
            <a:stCxn id="235" idx="3"/>
            <a:endCxn id="239" idx="1"/>
          </p:cNvCxnSpPr>
          <p:nvPr/>
        </p:nvCxnSpPr>
        <p:spPr>
          <a:xfrm>
            <a:off x="2628900" y="2305050"/>
            <a:ext cx="285750" cy="0"/>
          </a:xfrm>
          <a:prstGeom prst="straightConnector1">
            <a:avLst/>
          </a:prstGeom>
          <a:ln w="16193">
            <a:solidFill>
              <a:srgbClr val="239B70"/>
            </a:solidFill>
            <a:prstDash val="solid"/>
            <a:tailEnd type="triangle" w="sm" len="sm"/>
          </a:ln>
        </p:spPr>
      </p:cxnSp>
      <p:cxnSp>
        <p:nvCxnSpPr>
          <p:cNvPr id="301" name="直接箭头连接符 300"/>
          <p:cNvCxnSpPr>
            <a:stCxn id="239" idx="3"/>
            <a:endCxn id="243" idx="1"/>
          </p:cNvCxnSpPr>
          <p:nvPr/>
        </p:nvCxnSpPr>
        <p:spPr>
          <a:xfrm>
            <a:off x="4552950" y="2305050"/>
            <a:ext cx="285750" cy="0"/>
          </a:xfrm>
          <a:prstGeom prst="straightConnector1">
            <a:avLst/>
          </a:prstGeom>
          <a:ln w="16193">
            <a:solidFill>
              <a:srgbClr val="E89332"/>
            </a:solidFill>
            <a:prstDash val="solid"/>
            <a:tailEnd type="triangle" w="sm" len="sm"/>
          </a:ln>
        </p:spPr>
      </p:cxnSp>
      <p:cxnSp>
        <p:nvCxnSpPr>
          <p:cNvPr id="302" name="直接箭头连接符 301"/>
          <p:cNvCxnSpPr>
            <a:stCxn id="243" idx="3"/>
            <a:endCxn id="247" idx="1"/>
          </p:cNvCxnSpPr>
          <p:nvPr/>
        </p:nvCxnSpPr>
        <p:spPr>
          <a:xfrm>
            <a:off x="6477000" y="2305050"/>
            <a:ext cx="285750" cy="0"/>
          </a:xfrm>
          <a:prstGeom prst="straightConnector1">
            <a:avLst/>
          </a:prstGeom>
          <a:ln w="16193">
            <a:solidFill>
              <a:srgbClr val="E89332"/>
            </a:solidFill>
            <a:prstDash val="solid"/>
            <a:tailEnd type="triangle" w="sm" len="sm"/>
          </a:ln>
        </p:spPr>
      </p:cxnSp>
      <p:cxnSp>
        <p:nvCxnSpPr>
          <p:cNvPr id="303" name="直接箭头连接符 302"/>
          <p:cNvCxnSpPr>
            <a:stCxn id="247" idx="3"/>
            <a:endCxn id="251" idx="1"/>
          </p:cNvCxnSpPr>
          <p:nvPr/>
        </p:nvCxnSpPr>
        <p:spPr>
          <a:xfrm>
            <a:off x="8401050" y="2305050"/>
            <a:ext cx="285750" cy="0"/>
          </a:xfrm>
          <a:prstGeom prst="straightConnector1">
            <a:avLst/>
          </a:prstGeom>
          <a:ln w="16193">
            <a:solidFill>
              <a:srgbClr val="E89332"/>
            </a:solidFill>
            <a:prstDash val="solid"/>
            <a:tailEnd type="triangle" w="sm" len="sm"/>
          </a:ln>
        </p:spPr>
      </p:cxnSp>
      <p:sp>
        <p:nvSpPr>
          <p:cNvPr id="259" name="矩形 258"/>
          <p:cNvSpPr>
            <a:spLocks noGrp="1"/>
          </p:cNvSpPr>
          <p:nvPr/>
        </p:nvSpPr>
        <p:spPr>
          <a:xfrm>
            <a:off x="990600" y="3295650"/>
            <a:ext cx="4286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  <a:defRPr sz="142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本周已完成</a:t>
            </a:r>
            <a:endParaRPr sz="1425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0" name="圆角矩形 259"/>
          <p:cNvSpPr>
            <a:spLocks noGrp="1"/>
          </p:cNvSpPr>
          <p:nvPr/>
        </p:nvSpPr>
        <p:spPr>
          <a:xfrm>
            <a:off x="990600" y="3676650"/>
            <a:ext cx="4533900" cy="1695450"/>
          </a:xfrm>
          <a:prstGeom prst="roundRect">
            <a:avLst>
              <a:gd name="adj" fmla="val 6742"/>
            </a:avLst>
          </a:prstGeom>
          <a:solidFill>
            <a:srgbClr val="E8F5EF"/>
          </a:solidFill>
          <a:ln w="9525">
            <a:solidFill>
              <a:srgbClr val="239B70"/>
            </a:solidFill>
            <a:prstDash val="solid"/>
          </a:ln>
        </p:spPr>
      </p:sp>
      <p:sp>
        <p:nvSpPr>
          <p:cNvPr id="261" name="矩形 260"/>
          <p:cNvSpPr>
            <a:spLocks noGrp="1"/>
          </p:cNvSpPr>
          <p:nvPr/>
        </p:nvSpPr>
        <p:spPr>
          <a:xfrm>
            <a:off x="1257300" y="3905250"/>
            <a:ext cx="4000500" cy="1181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• 单槽口数据整理和YOLO模型重训</a:t>
            </a:r>
            <a:endParaRPr sz="1125" b="0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22000"/>
              </a:lnSpc>
              <a:buNone/>
              <a:defRPr sz="1125" b="0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• 验证集粗检测评估与预测可视化</a:t>
            </a:r>
            <a:endParaRPr sz="1125" b="0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22000"/>
              </a:lnSpc>
              <a:buNone/>
              <a:defRPr sz="1125" b="0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• 深度平面加Canny/Hough的正视反馈</a:t>
            </a:r>
            <a:endParaRPr sz="1125" b="0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22000"/>
              </a:lnSpc>
              <a:buNone/>
              <a:defRPr sz="1125" b="0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• ROS 2旋转反馈、连续确认和实机视频</a:t>
            </a:r>
            <a:endParaRPr sz="1125" b="0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2" name="矩形 261"/>
          <p:cNvSpPr>
            <a:spLocks noGrp="1"/>
          </p:cNvSpPr>
          <p:nvPr/>
        </p:nvSpPr>
        <p:spPr>
          <a:xfrm>
            <a:off x="5924550" y="3295650"/>
            <a:ext cx="4286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  <a:defRPr sz="142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下一阶段</a:t>
            </a:r>
            <a:endParaRPr sz="1425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3" name="圆角矩形 262"/>
          <p:cNvSpPr>
            <a:spLocks noGrp="1"/>
          </p:cNvSpPr>
          <p:nvPr/>
        </p:nvSpPr>
        <p:spPr>
          <a:xfrm>
            <a:off x="5924550" y="3676650"/>
            <a:ext cx="4572000" cy="1695450"/>
          </a:xfrm>
          <a:prstGeom prst="roundRect">
            <a:avLst>
              <a:gd name="adj" fmla="val 6742"/>
            </a:avLst>
          </a:prstGeom>
          <a:solidFill>
            <a:srgbClr val="FFF1DF"/>
          </a:solidFill>
          <a:ln w="9525">
            <a:solidFill>
              <a:srgbClr val="E89332"/>
            </a:solidFill>
            <a:prstDash val="solid"/>
          </a:ln>
        </p:spPr>
      </p:sp>
      <p:sp>
        <p:nvSpPr>
          <p:cNvPr id="264" name="矩形 263"/>
          <p:cNvSpPr>
            <a:spLocks noGrp="1"/>
          </p:cNvSpPr>
          <p:nvPr/>
        </p:nvSpPr>
        <p:spPr>
          <a:xfrm>
            <a:off x="6191250" y="3905250"/>
            <a:ext cx="4038600" cy="1181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• 先让正视反馈在连续运动中稳定</a:t>
            </a:r>
            <a:endParaRPr sz="1125" b="0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22000"/>
              </a:lnSpc>
              <a:buNone/>
              <a:defRPr sz="1125" b="0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• 调整精定位的真实槽口四边与质量门限</a:t>
            </a:r>
            <a:endParaRPr sz="1125" b="0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22000"/>
              </a:lnSpc>
              <a:buNone/>
              <a:defRPr sz="1125" b="0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• 将D435固定到机械臂末端并完成手眼标定</a:t>
            </a:r>
            <a:endParaRPr sz="1125" b="0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22000"/>
              </a:lnSpc>
              <a:buNone/>
              <a:defRPr sz="1125" b="0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• 上实物验证接近、对准和插入流程</a:t>
            </a:r>
            <a:endParaRPr sz="1125" b="0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5" name="圆角矩形 264"/>
          <p:cNvSpPr>
            <a:spLocks noGrp="1"/>
          </p:cNvSpPr>
          <p:nvPr/>
        </p:nvSpPr>
        <p:spPr>
          <a:xfrm>
            <a:off x="990600" y="5667375"/>
            <a:ext cx="9505950" cy="552450"/>
          </a:xfrm>
          <a:prstGeom prst="roundRect">
            <a:avLst>
              <a:gd name="adj" fmla="val 20690"/>
            </a:avLst>
          </a:prstGeom>
          <a:solidFill>
            <a:srgbClr val="EAF4FB"/>
          </a:solidFill>
          <a:ln w="9525">
            <a:solidFill>
              <a:srgbClr val="B6D7EA"/>
            </a:solidFill>
            <a:prstDash val="solid"/>
          </a:ln>
        </p:spPr>
      </p:sp>
      <p:sp>
        <p:nvSpPr>
          <p:cNvPr id="266" name="矩形 265"/>
          <p:cNvSpPr>
            <a:spLocks noGrp="1"/>
          </p:cNvSpPr>
          <p:nvPr/>
        </p:nvSpPr>
        <p:spPr>
          <a:xfrm>
            <a:off x="1219200" y="5829300"/>
            <a:ext cx="12001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  <a:defRPr sz="1240" b="1">
                <a:solidFill>
                  <a:srgbClr val="145CA8"/>
                </a:solidFill>
                <a:latin typeface="微软雅黑"/>
                <a:ea typeface="微软雅黑"/>
                <a:cs typeface="微软雅黑"/>
              </a:defRPr>
            </a:pPr>
            <a:r>
              <a:rPr sz="1240" b="1">
                <a:solidFill>
                  <a:srgbClr val="145CA8"/>
                </a:solidFill>
                <a:latin typeface="微软雅黑"/>
                <a:ea typeface="微软雅黑"/>
                <a:cs typeface="微软雅黑"/>
              </a:rPr>
              <a:t>下一里程碑</a:t>
            </a:r>
            <a:endParaRPr sz="1240" b="1">
              <a:solidFill>
                <a:srgbClr val="145CA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7" name="矩形 266"/>
          <p:cNvSpPr>
            <a:spLocks noGrp="1"/>
          </p:cNvSpPr>
          <p:nvPr/>
        </p:nvSpPr>
        <p:spPr>
          <a:xfrm>
            <a:off x="2552700" y="5781675"/>
            <a:ext cx="7715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114000"/>
              </a:lnSpc>
              <a:buNone/>
              <a:defRPr sz="112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6324A"/>
                </a:solidFill>
                <a:latin typeface="微软雅黑"/>
                <a:ea typeface="微软雅黑"/>
                <a:cs typeface="微软雅黑"/>
              </a:rPr>
              <a:t>相机能够先稳定正视槽口，再启动精定位，并把相机坐标转换成机器人可执行坐标。</a:t>
            </a:r>
            <a:endParaRPr sz="1125" b="1">
              <a:solidFill>
                <a:srgbClr val="16324A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1514</Words>
  <Application>WPS 演示</Application>
  <PresentationFormat>Converted Presentation</PresentationFormat>
  <Paragraphs>193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1" baseType="lpstr">
      <vt:lpstr>Arial</vt:lpstr>
      <vt:lpstr>宋体</vt:lpstr>
      <vt:lpstr>Wingdings</vt:lpstr>
      <vt:lpstr>Arial</vt:lpstr>
      <vt:lpstr>Nimbus Roman No9 L</vt:lpstr>
      <vt:lpstr>微软雅黑</vt:lpstr>
      <vt:lpstr>文泉驿微米黑</vt:lpstr>
      <vt:lpstr>Calibri</vt:lpstr>
      <vt:lpstr>微软雅黑</vt:lpstr>
      <vt:lpstr>宋体</vt:lpstr>
      <vt:lpstr>Arial Unicode MS</vt:lpstr>
      <vt:lpstr>Noto Serif CJK SC</vt:lpstr>
      <vt:lpstr>DejaVu Sans</vt:lpstr>
      <vt:lpstr>微软雅黑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lzt</cp:lastModifiedBy>
  <cp:revision>1</cp:revision>
  <dcterms:created xsi:type="dcterms:W3CDTF">2026-09-30T09:03:40Z</dcterms:created>
  <dcterms:modified xsi:type="dcterms:W3CDTF">2026-09-30T09:03:40Z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D990E1CD4272CC516CD0BC6AC88D41E4_42</vt:lpwstr>
  </property>
  <property fmtid="{D5CDD505-2E9C-101B-9397-08002B2CF9AE}" pid="3" name="KSOProductBuildVer">
    <vt:lpwstr>2052-12.1.2.28080</vt:lpwstr>
  </property>
</Properties>
</file>