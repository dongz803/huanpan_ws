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Calibri Light"/>
              </a:rPr>
              <a:t>单击以</a:t>
            </a:r>
            <a:r>
              <a:rPr b="0" lang="zh-CN" sz="4400" spc="-1" strike="noStrike">
                <a:solidFill>
                  <a:srgbClr val="000000"/>
                </a:solidFill>
                <a:latin typeface="Calibri Light"/>
              </a:rPr>
              <a:t>移动幻</a:t>
            </a:r>
            <a:r>
              <a:rPr b="0" lang="zh-CN" sz="4400" spc="-1" strike="noStrike">
                <a:solidFill>
                  <a:srgbClr val="000000"/>
                </a:solidFill>
                <a:latin typeface="Calibri Light"/>
              </a:rPr>
              <a:t>灯片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2000" spc="-1" strike="noStrike">
                <a:latin typeface="Arial"/>
              </a:rPr>
              <a:t>点击编辑备注</a:t>
            </a:r>
            <a:r>
              <a:rPr b="0" lang="zh-CN" sz="2000" spc="-1" strike="noStrike">
                <a:latin typeface="Arial"/>
              </a:rPr>
              <a:t>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E02C764-869B-4FF4-9B53-D62F7F0006BC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封</a:t>
            </a:r>
            <a:r>
              <a:rPr b="0" lang="zh-CN" sz="2000" spc="-1" strike="noStrike">
                <a:latin typeface="Arial"/>
              </a:rPr>
              <a:t>面</a:t>
            </a:r>
            <a:r>
              <a:rPr b="0" lang="zh-CN" sz="2000" spc="-1" strike="noStrike">
                <a:latin typeface="Arial"/>
              </a:rPr>
              <a:t>图</a:t>
            </a:r>
            <a:r>
              <a:rPr b="0" lang="zh-CN" sz="2000" spc="-1" strike="noStrike">
                <a:latin typeface="Arial"/>
              </a:rPr>
              <a:t>来</a:t>
            </a:r>
            <a:r>
              <a:rPr b="0" lang="zh-CN" sz="2000" spc="-1" strike="noStrike">
                <a:latin typeface="Arial"/>
              </a:rPr>
              <a:t>自</a:t>
            </a:r>
            <a:r>
              <a:rPr b="0" lang="zh-CN" sz="2000" spc="-1" strike="noStrike">
                <a:latin typeface="Arial"/>
              </a:rPr>
              <a:t>当</a:t>
            </a:r>
            <a:r>
              <a:rPr b="0" lang="zh-CN" sz="2000" spc="-1" strike="noStrike">
                <a:latin typeface="Arial"/>
              </a:rPr>
              <a:t>前</a:t>
            </a:r>
            <a:r>
              <a:rPr b="0" lang="zh-CN" sz="2000" spc="-1" strike="noStrike">
                <a:latin typeface="Arial"/>
              </a:rPr>
              <a:t>工</a:t>
            </a:r>
            <a:r>
              <a:rPr b="0" lang="zh-CN" sz="2000" spc="-1" strike="noStrike">
                <a:latin typeface="Arial"/>
              </a:rPr>
              <a:t>作</a:t>
            </a:r>
            <a:r>
              <a:rPr b="0" lang="zh-CN" sz="2000" spc="-1" strike="noStrike">
                <a:latin typeface="Arial"/>
              </a:rPr>
              <a:t>区</a:t>
            </a:r>
            <a:r>
              <a:rPr b="0" lang="zh-CN" sz="2000" spc="-1" strike="noStrike">
                <a:latin typeface="Arial"/>
              </a:rPr>
              <a:t>离</a:t>
            </a:r>
            <a:r>
              <a:rPr b="0" lang="zh-CN" sz="2000" spc="-1" strike="noStrike">
                <a:latin typeface="Arial"/>
              </a:rPr>
              <a:t>屏</a:t>
            </a:r>
            <a:r>
              <a:rPr b="0" lang="zh-CN" sz="2000" spc="-1" strike="noStrike">
                <a:latin typeface="Arial"/>
              </a:rPr>
              <a:t>渲</a:t>
            </a:r>
            <a:r>
              <a:rPr b="0" lang="zh-CN" sz="2000" spc="-1" strike="noStrike">
                <a:latin typeface="Arial"/>
              </a:rPr>
              <a:t>染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/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e/</a:t>
            </a:r>
            <a:r>
              <a:rPr b="0" lang="en-US" sz="2000" spc="-1" strike="noStrike">
                <a:latin typeface="Arial"/>
              </a:rPr>
              <a:t>lz</a:t>
            </a:r>
            <a:r>
              <a:rPr b="0" lang="en-US" sz="2000" spc="-1" strike="noStrike">
                <a:latin typeface="Arial"/>
              </a:rPr>
              <a:t>t/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u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s/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ut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ut</a:t>
            </a:r>
            <a:r>
              <a:rPr b="0" lang="en-US" sz="2000" spc="-1" strike="noStrike">
                <a:latin typeface="Arial"/>
              </a:rPr>
              <a:t>s/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u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en-US" sz="2000" spc="-1" strike="noStrike">
                <a:latin typeface="Arial"/>
              </a:rPr>
              <a:t>w</a:t>
            </a:r>
            <a:r>
              <a:rPr b="0" lang="en-US" sz="2000" spc="-1" strike="noStrike">
                <a:latin typeface="Arial"/>
              </a:rPr>
              <a:t>or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el</a:t>
            </a:r>
            <a:r>
              <a:rPr b="0" lang="en-US" sz="2000" spc="-1" strike="noStrike">
                <a:latin typeface="Arial"/>
              </a:rPr>
              <a:t>l.</a:t>
            </a:r>
            <a:r>
              <a:rPr b="0" lang="en-US" sz="2000" spc="-1" strike="noStrike">
                <a:latin typeface="Arial"/>
              </a:rPr>
              <a:t>p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g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zh-CN" sz="2000" spc="-1" strike="noStrike">
                <a:latin typeface="Arial"/>
              </a:rPr>
              <a:t>该</a:t>
            </a:r>
            <a:r>
              <a:rPr b="0" lang="zh-CN" sz="2000" spc="-1" strike="noStrike">
                <a:latin typeface="Arial"/>
              </a:rPr>
              <a:t>图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zh-CN" sz="2000" spc="-1" strike="noStrike">
                <a:latin typeface="Arial"/>
              </a:rPr>
              <a:t>仿</a:t>
            </a:r>
            <a:r>
              <a:rPr b="0" lang="zh-CN" sz="2000" spc="-1" strike="noStrike">
                <a:latin typeface="Arial"/>
              </a:rPr>
              <a:t>真</a:t>
            </a:r>
            <a:r>
              <a:rPr b="0" lang="zh-CN" sz="2000" spc="-1" strike="noStrike">
                <a:latin typeface="Arial"/>
              </a:rPr>
              <a:t>场</a:t>
            </a:r>
            <a:r>
              <a:rPr b="0" lang="zh-CN" sz="2000" spc="-1" strike="noStrike">
                <a:latin typeface="Arial"/>
              </a:rPr>
              <a:t>景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zh-CN" sz="2000" spc="-1" strike="noStrike">
                <a:latin typeface="Arial"/>
              </a:rPr>
              <a:t>不</a:t>
            </a:r>
            <a:r>
              <a:rPr b="0" lang="zh-CN" sz="2000" spc="-1" strike="noStrike">
                <a:latin typeface="Arial"/>
              </a:rPr>
              <a:t>代</a:t>
            </a:r>
            <a:r>
              <a:rPr b="0" lang="zh-CN" sz="2000" spc="-1" strike="noStrike">
                <a:latin typeface="Arial"/>
              </a:rPr>
              <a:t>表</a:t>
            </a:r>
            <a:r>
              <a:rPr b="0" lang="zh-CN" sz="2000" spc="-1" strike="noStrike">
                <a:latin typeface="Arial"/>
              </a:rPr>
              <a:t>真</a:t>
            </a:r>
            <a:r>
              <a:rPr b="0" lang="zh-CN" sz="2000" spc="-1" strike="noStrike">
                <a:latin typeface="Arial"/>
              </a:rPr>
              <a:t>实</a:t>
            </a:r>
            <a:r>
              <a:rPr b="0" lang="zh-CN" sz="2000" spc="-1" strike="noStrike">
                <a:latin typeface="Arial"/>
              </a:rPr>
              <a:t>设</a:t>
            </a:r>
            <a:r>
              <a:rPr b="0" lang="zh-CN" sz="2000" spc="-1" strike="noStrike">
                <a:latin typeface="Arial"/>
              </a:rPr>
              <a:t>备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资料来源：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https://www.mitsubishielectric.com/fa/id_en/solutions_old/industries/electronics/server/index.html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https://www.mitsubishielectric.com/fa/products/rbt/robot/pmerit/option/forcesensor.html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https://whirltone.com/newsinfo/2684370.html?templateId=520405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https://www.whirltone.com/productinfo/1207939.html?templateId=1133605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注意：沃华公开页面确认视觉定位，但未明确披露六维力传感器或具体力控算法。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内容和图片来源：三菱电机 </a:t>
            </a:r>
            <a:r>
              <a:rPr b="0" lang="en-US" sz="2000" spc="-1" strike="noStrike">
                <a:latin typeface="Arial"/>
              </a:rPr>
              <a:t>Factory Automation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Electrical &amp; Electronic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Precision assembly of parts (HDD) through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https://www.mitsubishielectric.com/fa/solutions/industries/electronics/server/index.html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图片：</a:t>
            </a:r>
            <a:r>
              <a:rPr b="0" lang="en-US" sz="2000" spc="-1" strike="noStrike">
                <a:latin typeface="Arial"/>
              </a:rPr>
              <a:t>https://www.mitsubishielectric.com/fa/solutions/industries/electronics/assets/img/mv_server_normal.jpg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官方公开流程为：取出 </a:t>
            </a:r>
            <a:r>
              <a:rPr b="0" lang="en-US" sz="2000" spc="-1" strike="noStrike">
                <a:latin typeface="Arial"/>
              </a:rPr>
              <a:t>HDD</a:t>
            </a:r>
            <a:r>
              <a:rPr b="0" lang="zh-CN" sz="2000" spc="-1" strike="noStrike">
                <a:latin typeface="Arial"/>
              </a:rPr>
              <a:t>；移动到机架插槽附近；使用力传感器完成深处插入。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文字来源：三菱电机 </a:t>
            </a:r>
            <a:r>
              <a:rPr b="0" lang="en-US" sz="2000" spc="-1" strike="noStrike">
                <a:latin typeface="Arial"/>
              </a:rPr>
              <a:t>HDD </a:t>
            </a:r>
            <a:r>
              <a:rPr b="0" lang="zh-CN" sz="2000" spc="-1" strike="noStrike">
                <a:latin typeface="Arial"/>
              </a:rPr>
              <a:t>精密装配案例及力传感器产品页面。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https://www.mitsubishielectric.com/fa/solutions/industries/electronics/server/index.html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https://www.mitsubishielectric.com/fa/products/rbt/robot/pmerit/option/forcesensor.html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图片来源：</a:t>
            </a:r>
            <a:r>
              <a:rPr b="0" lang="en-US" sz="2000" spc="-1" strike="noStrike">
                <a:latin typeface="Arial"/>
              </a:rPr>
              <a:t>Mitsubishi Electric Germany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Force sensor for robots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https://de.mitsubishielectric.com/fa/de_en/lp/forcesensor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图片：</a:t>
            </a:r>
            <a:r>
              <a:rPr b="0" lang="en-US" sz="2000" spc="-1" strike="noStrike">
                <a:latin typeface="Arial"/>
              </a:rPr>
              <a:t>https://eu-images.contentstack.com/v3/assets/blt5412ff9af9aef77f/blt98e2b81e4d2a087b/65dcb87495aed7040ade0e32/ForceSensor1.jpg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来源：三菱电机 </a:t>
            </a:r>
            <a:r>
              <a:rPr b="0" lang="en-US" sz="2000" spc="-1" strike="noStrike">
                <a:latin typeface="Arial"/>
              </a:rPr>
              <a:t>HDD </a:t>
            </a:r>
            <a:r>
              <a:rPr b="0" lang="zh-CN" sz="2000" spc="-1" strike="noStrike">
                <a:latin typeface="Arial"/>
              </a:rPr>
              <a:t>精密装配案例及 </a:t>
            </a:r>
            <a:r>
              <a:rPr b="0" lang="en-US" sz="2000" spc="-1" strike="noStrike">
                <a:latin typeface="Arial"/>
              </a:rPr>
              <a:t>Force sensor set </a:t>
            </a:r>
            <a:r>
              <a:rPr b="0" lang="zh-CN" sz="2000" spc="-1" strike="noStrike">
                <a:latin typeface="Arial"/>
              </a:rPr>
              <a:t>产品页面。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https://www.mitsubishielectric.com/fa/solutions/industries/electronics/server/index.html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https://www.mitsubishielectric.com/fa/products/rbt/robot/pmerit/option/forcesensor.html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三菱公开页面确认力控制、接触检测、力日志、视觉与力觉补偿等能力，但没有公开 </a:t>
            </a:r>
            <a:r>
              <a:rPr b="0" lang="en-US" sz="2000" spc="-1" strike="noStrike">
                <a:latin typeface="Arial"/>
              </a:rPr>
              <a:t>HDD </a:t>
            </a:r>
            <a:r>
              <a:rPr b="0" lang="zh-CN" sz="2000" spc="-1" strike="noStrike">
                <a:latin typeface="Arial"/>
              </a:rPr>
              <a:t>插入的具体阈值和轨迹参数。右列为面向当前 </a:t>
            </a:r>
            <a:r>
              <a:rPr b="0" lang="en-US" sz="2000" spc="-1" strike="noStrike">
                <a:latin typeface="Arial"/>
              </a:rPr>
              <a:t>UR5e </a:t>
            </a:r>
            <a:r>
              <a:rPr b="0" lang="zh-CN" sz="2000" spc="-1" strike="noStrike">
                <a:latin typeface="Arial"/>
              </a:rPr>
              <a:t>项目的工程映射。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rgbClr val="000000"/>
                </a:solidFill>
                <a:latin typeface="Calibri Light"/>
              </a:rPr>
              <a:t>单击以编辑</a:t>
            </a:r>
            <a:r>
              <a:rPr b="0" lang="zh-CN" sz="4400" spc="-1" strike="noStrike">
                <a:solidFill>
                  <a:srgbClr val="000000"/>
                </a:solidFill>
                <a:latin typeface="Calibri Light"/>
              </a:rPr>
              <a:t>标题文本格</a:t>
            </a:r>
            <a:r>
              <a:rPr b="0" lang="zh-CN" sz="4400" spc="-1" strike="noStrike">
                <a:solidFill>
                  <a:srgbClr val="000000"/>
                </a:solidFill>
                <a:latin typeface="Calibri Light"/>
              </a:rPr>
              <a:t>式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pc="-1" strike="noStrike">
                <a:solidFill>
                  <a:srgbClr val="000000"/>
                </a:solidFill>
                <a:latin typeface="Calibri"/>
              </a:rPr>
              <a:t>点击以编辑提纲文本格式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第二提纲级别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Calibri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Calibri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4952880" y="0"/>
            <a:ext cx="2190240" cy="6857640"/>
          </a:xfrm>
          <a:prstGeom prst="rect">
            <a:avLst/>
          </a:prstGeom>
          <a:gradFill rotWithShape="0">
            <a:gsLst>
              <a:gs pos="0">
                <a:srgbClr val="071726"/>
              </a:gs>
              <a:gs pos="100000">
                <a:srgbClr val="071726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"/>
          <p:cNvSpPr/>
          <p:nvPr/>
        </p:nvSpPr>
        <p:spPr>
          <a:xfrm>
            <a:off x="0" y="0"/>
            <a:ext cx="5619240" cy="6857640"/>
          </a:xfrm>
          <a:prstGeom prst="rect">
            <a:avLst/>
          </a:prstGeom>
          <a:solidFill>
            <a:srgbClr val="071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"/>
          <p:cNvSpPr/>
          <p:nvPr/>
        </p:nvSpPr>
        <p:spPr>
          <a:xfrm>
            <a:off x="609480" y="1123920"/>
            <a:ext cx="485748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4000"/>
              </a:lnSpc>
              <a:buNone/>
            </a:pPr>
            <a:r>
              <a:rPr b="1" lang="zh-CN" sz="367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固定式硬盘插拔机器人</a:t>
            </a:r>
            <a:endParaRPr b="0" lang="en-US" sz="3670" spc="-1" strike="noStrike"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28560" y="2647800"/>
            <a:ext cx="4476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100" spc="-1" strike="noStrike">
                <a:solidFill>
                  <a:srgbClr val="55ddf2"/>
                </a:solidFill>
                <a:latin typeface="Noto Sans CJK SC"/>
                <a:ea typeface="Noto Sans CJK SC"/>
              </a:rPr>
              <a:t>方案调研与当前进度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28560" y="3448080"/>
            <a:ext cx="42858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</a:pPr>
            <a:r>
              <a:rPr b="0" lang="zh-CN" sz="1430" spc="-1" strike="noStrike">
                <a:solidFill>
                  <a:srgbClr val="d7e6f2"/>
                </a:solidFill>
                <a:latin typeface="Noto Sans CJK SC"/>
                <a:ea typeface="Noto Sans CJK SC"/>
              </a:rPr>
              <a:t>面向 </a:t>
            </a:r>
            <a:r>
              <a:rPr b="0" lang="en-US" sz="1430" spc="-1" strike="noStrike">
                <a:solidFill>
                  <a:srgbClr val="d7e6f2"/>
                </a:solidFill>
                <a:latin typeface="Noto Sans CJK SC"/>
                <a:ea typeface="Noto Sans CJK SC"/>
              </a:rPr>
              <a:t>HDD / SSD </a:t>
            </a:r>
            <a:r>
              <a:rPr b="0" lang="zh-CN" sz="1430" spc="-1" strike="noStrike">
                <a:solidFill>
                  <a:srgbClr val="d7e6f2"/>
                </a:solidFill>
                <a:latin typeface="Noto Sans CJK SC"/>
                <a:ea typeface="Noto Sans CJK SC"/>
              </a:rPr>
              <a:t>自动换插、服务器兼容性测试与插拔可靠性验证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28560" y="4724280"/>
            <a:ext cx="799920" cy="47160"/>
          </a:xfrm>
          <a:prstGeom prst="rect">
            <a:avLst/>
          </a:prstGeom>
          <a:solidFill>
            <a:srgbClr val="f6a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"/>
          <p:cNvSpPr/>
          <p:nvPr/>
        </p:nvSpPr>
        <p:spPr>
          <a:xfrm>
            <a:off x="628560" y="4971960"/>
            <a:ext cx="4333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en-US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UR5e · MuJoCo · ROS 2 · MoveIt 2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28560" y="6095880"/>
            <a:ext cx="3428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0" lang="zh-CN" sz="1050" spc="-1" strike="noStrike">
                <a:solidFill>
                  <a:srgbClr val="88a5bb"/>
                </a:solidFill>
                <a:latin typeface="Noto Sans CJK SC"/>
                <a:ea typeface="Noto Sans CJK SC"/>
              </a:rPr>
              <a:t>阶段汇报  </a:t>
            </a:r>
            <a:r>
              <a:rPr b="0" lang="en-US" sz="1050" spc="-1" strike="noStrike">
                <a:solidFill>
                  <a:srgbClr val="88a5bb"/>
                </a:solidFill>
                <a:latin typeface="Noto Sans CJK SC"/>
                <a:ea typeface="Noto Sans CJK SC"/>
              </a:rPr>
              <a:t>|  2026.09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5436000" y="0"/>
            <a:ext cx="842400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609480" y="399960"/>
            <a:ext cx="99057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5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公开方案的互补定位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09480" y="1019160"/>
            <a:ext cx="647280" cy="47160"/>
          </a:xfrm>
          <a:prstGeom prst="rect">
            <a:avLst/>
          </a:prstGeom>
          <a:solidFill>
            <a:srgbClr val="55dd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"/>
          <p:cNvSpPr/>
          <p:nvPr/>
        </p:nvSpPr>
        <p:spPr>
          <a:xfrm>
            <a:off x="11144160" y="438120"/>
            <a:ext cx="45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6000"/>
              </a:lnSpc>
              <a:buNone/>
            </a:pPr>
            <a:r>
              <a:rPr b="1" lang="en-US" sz="1280" spc="-1" strike="noStrike">
                <a:solidFill>
                  <a:srgbClr val="88a5bb"/>
                </a:solidFill>
                <a:latin typeface="Noto Sans CJK SC"/>
                <a:ea typeface="Noto Sans CJK SC"/>
              </a:rPr>
              <a:t>02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66720" y="1352520"/>
            <a:ext cx="4952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800" spc="-1" strike="noStrike">
                <a:solidFill>
                  <a:srgbClr val="55ddf2"/>
                </a:solidFill>
                <a:latin typeface="Noto Sans CJK SC"/>
                <a:ea typeface="Noto Sans CJK SC"/>
              </a:rPr>
              <a:t>三菱电机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66720" y="1771560"/>
            <a:ext cx="4952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17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解决最后一段精密插入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85800" y="2457360"/>
            <a:ext cx="1380600" cy="552240"/>
          </a:xfrm>
          <a:prstGeom prst="roundRect">
            <a:avLst>
              <a:gd name="adj" fmla="val 20690"/>
            </a:avLst>
          </a:prstGeom>
          <a:solidFill>
            <a:srgbClr val="102b42"/>
          </a:solidFill>
          <a:ln w="9525">
            <a:solidFill>
              <a:srgbClr val="102b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视觉粗定位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343240" y="2457360"/>
            <a:ext cx="1257120" cy="552240"/>
          </a:xfrm>
          <a:prstGeom prst="roundRect">
            <a:avLst>
              <a:gd name="adj" fmla="val 20690"/>
            </a:avLst>
          </a:prstGeom>
          <a:solidFill>
            <a:srgbClr val="102b42"/>
          </a:solidFill>
          <a:ln w="9525">
            <a:solidFill>
              <a:srgbClr val="102b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接触检测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876840" y="2457360"/>
            <a:ext cx="1257120" cy="552240"/>
          </a:xfrm>
          <a:prstGeom prst="roundRect">
            <a:avLst>
              <a:gd name="adj" fmla="val 20690"/>
            </a:avLst>
          </a:prstGeom>
          <a:solidFill>
            <a:srgbClr val="102b42"/>
          </a:solidFill>
          <a:ln w="9525">
            <a:solidFill>
              <a:srgbClr val="102b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力控搜索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066760" y="2733840"/>
            <a:ext cx="275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0955">
            <a:solidFill>
              <a:srgbClr val="25b9d3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"/>
          <p:cNvSpPr/>
          <p:nvPr/>
        </p:nvSpPr>
        <p:spPr>
          <a:xfrm>
            <a:off x="3600360" y="2733840"/>
            <a:ext cx="275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0955">
            <a:solidFill>
              <a:srgbClr val="25b9d3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"/>
          <p:cNvSpPr/>
          <p:nvPr/>
        </p:nvSpPr>
        <p:spPr>
          <a:xfrm>
            <a:off x="685800" y="3295800"/>
            <a:ext cx="45716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8000"/>
              </a:lnSpc>
              <a:buNone/>
            </a:pPr>
            <a:r>
              <a:rPr b="0" lang="zh-CN" sz="1350" spc="-1" strike="noStrike">
                <a:solidFill>
                  <a:srgbClr val="d7e6f2"/>
                </a:solidFill>
                <a:latin typeface="Noto Sans CJK SC"/>
                <a:ea typeface="Noto Sans CJK SC"/>
              </a:rPr>
              <a:t>相机将硬盘带到槽口附近，力传感器在接触后微调方向并限制冲击。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85800" y="4095720"/>
            <a:ext cx="466704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</a:pPr>
            <a:r>
              <a:rPr b="1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重点：</a:t>
            </a:r>
            <a:r>
              <a:rPr b="0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深槽导向、装配误差、连接器保护</a:t>
            </a:r>
            <a:endParaRPr b="0" lang="en-US" sz="12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1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数据：</a:t>
            </a:r>
            <a:r>
              <a:rPr b="0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记录力、位置与时间，支持异常判定和寿命分析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076800" y="1466640"/>
            <a:ext cx="360" cy="4048200"/>
          </a:xfrm>
          <a:prstGeom prst="line">
            <a:avLst/>
          </a:prstGeom>
          <a:ln w="19050">
            <a:solidFill>
              <a:srgbClr val="2a47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"/>
          <p:cNvSpPr/>
          <p:nvPr/>
        </p:nvSpPr>
        <p:spPr>
          <a:xfrm>
            <a:off x="6572160" y="1352520"/>
            <a:ext cx="4952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800" spc="-1" strike="noStrike">
                <a:solidFill>
                  <a:srgbClr val="f6aa4a"/>
                </a:solidFill>
                <a:latin typeface="Noto Sans CJK SC"/>
                <a:ea typeface="Noto Sans CJK SC"/>
              </a:rPr>
              <a:t>沃华慧通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572160" y="1771560"/>
            <a:ext cx="4952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17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解决整套测试任务闭环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572160" y="2457360"/>
            <a:ext cx="1066320" cy="552240"/>
          </a:xfrm>
          <a:prstGeom prst="roundRect">
            <a:avLst>
              <a:gd name="adj" fmla="val 20690"/>
            </a:avLst>
          </a:prstGeom>
          <a:solidFill>
            <a:srgbClr val="3b2c1c"/>
          </a:solidFill>
          <a:ln w="9525">
            <a:solidFill>
              <a:srgbClr val="3b2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来料柜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905600" y="2457360"/>
            <a:ext cx="1352160" cy="552240"/>
          </a:xfrm>
          <a:prstGeom prst="roundRect">
            <a:avLst>
              <a:gd name="adj" fmla="val 20690"/>
            </a:avLst>
          </a:prstGeom>
          <a:solidFill>
            <a:srgbClr val="3b2c1c"/>
          </a:solidFill>
          <a:ln w="9525">
            <a:solidFill>
              <a:srgbClr val="3b2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取盘与搬运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524880" y="2457360"/>
            <a:ext cx="1352160" cy="552240"/>
          </a:xfrm>
          <a:prstGeom prst="roundRect">
            <a:avLst>
              <a:gd name="adj" fmla="val 20690"/>
            </a:avLst>
          </a:prstGeom>
          <a:solidFill>
            <a:srgbClr val="3b2c1c"/>
          </a:solidFill>
          <a:ln w="9525">
            <a:solidFill>
              <a:srgbClr val="3b2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135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服务器测试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639200" y="2733840"/>
            <a:ext cx="266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0955">
            <a:solidFill>
              <a:srgbClr val="f6aa4a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"/>
          <p:cNvSpPr/>
          <p:nvPr/>
        </p:nvSpPr>
        <p:spPr>
          <a:xfrm>
            <a:off x="9258480" y="2733840"/>
            <a:ext cx="266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0955">
            <a:solidFill>
              <a:srgbClr val="f6aa4a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"/>
          <p:cNvSpPr/>
          <p:nvPr/>
        </p:nvSpPr>
        <p:spPr>
          <a:xfrm>
            <a:off x="6572160" y="3295800"/>
            <a:ext cx="45716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8000"/>
              </a:lnSpc>
              <a:buNone/>
            </a:pPr>
            <a:r>
              <a:rPr b="0" lang="zh-CN" sz="1350" spc="-1" strike="noStrike">
                <a:solidFill>
                  <a:srgbClr val="d7e6f2"/>
                </a:solidFill>
                <a:latin typeface="Noto Sans CJK SC"/>
                <a:ea typeface="Noto Sans CJK SC"/>
              </a:rPr>
              <a:t>系统分配源盘位和目标槽位，机器人插入、等待测试、拔出并回到原位。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572160" y="4095720"/>
            <a:ext cx="46191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</a:pPr>
            <a:r>
              <a:rPr b="1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重点：</a:t>
            </a:r>
            <a:r>
              <a:rPr b="0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任务管理、多规格兼容、安全与人工接管</a:t>
            </a:r>
            <a:endParaRPr b="0" lang="en-US" sz="128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1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公开边界：</a:t>
            </a:r>
            <a:r>
              <a:rPr b="0" lang="zh-CN" sz="128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已确认视觉定位，末端柔顺与力控方式未公开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66720" y="5524560"/>
            <a:ext cx="10839240" cy="590040"/>
          </a:xfrm>
          <a:prstGeom prst="roundRect">
            <a:avLst>
              <a:gd name="adj" fmla="val 19355"/>
            </a:avLst>
          </a:prstGeom>
          <a:solidFill>
            <a:srgbClr val="0e3145"/>
          </a:solidFill>
          <a:ln w="9525">
            <a:solidFill>
              <a:srgbClr val="1e52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"/>
          <p:cNvSpPr/>
          <p:nvPr/>
        </p:nvSpPr>
        <p:spPr>
          <a:xfrm>
            <a:off x="905040" y="5667480"/>
            <a:ext cx="10362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6000"/>
              </a:lnSpc>
              <a:buNone/>
            </a:pPr>
            <a:r>
              <a:rPr b="1" lang="zh-CN" sz="1729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推荐组合：沃华的工作站闭环 </a:t>
            </a:r>
            <a:r>
              <a:rPr b="1" lang="en-US" sz="1729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+ </a:t>
            </a:r>
            <a:r>
              <a:rPr b="1" lang="zh-CN" sz="1729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三菱的 </a:t>
            </a:r>
            <a:r>
              <a:rPr b="1" lang="en-US" sz="1729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Vision / Force </a:t>
            </a:r>
            <a:r>
              <a:rPr b="1" lang="zh-CN" sz="1729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精密插入</a:t>
            </a:r>
            <a:endParaRPr b="0" lang="en-US" sz="1729" spc="-1" strike="noStrike"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09480" y="6477120"/>
            <a:ext cx="10286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0" lang="zh-CN" sz="900" spc="-1" strike="noStrike">
                <a:solidFill>
                  <a:srgbClr val="88a5bb"/>
                </a:solidFill>
                <a:latin typeface="Noto Sans CJK SC"/>
                <a:ea typeface="Noto Sans CJK SC"/>
              </a:rPr>
              <a:t>依据用户提供的三菱电机与沃华慧通公开资料摘要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609480" y="399960"/>
            <a:ext cx="99057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三菱 </a:t>
            </a:r>
            <a:r>
              <a:rPr b="1" lang="en-US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HDD </a:t>
            </a:r>
            <a:r>
              <a:rPr b="1" lang="zh-CN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精密装配流程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09480" y="1019160"/>
            <a:ext cx="647280" cy="47160"/>
          </a:xfrm>
          <a:prstGeom prst="rect">
            <a:avLst/>
          </a:prstGeom>
          <a:solidFill>
            <a:srgbClr val="55dd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"/>
          <p:cNvSpPr/>
          <p:nvPr/>
        </p:nvSpPr>
        <p:spPr>
          <a:xfrm>
            <a:off x="11144160" y="438120"/>
            <a:ext cx="45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6000"/>
              </a:lnSpc>
              <a:buNone/>
            </a:pPr>
            <a:r>
              <a:rPr b="1" lang="en-US" sz="1280" spc="-1" strike="noStrike">
                <a:solidFill>
                  <a:srgbClr val="658094"/>
                </a:solidFill>
                <a:latin typeface="Noto Sans CJK SC"/>
                <a:ea typeface="Noto Sans CJK SC"/>
              </a:rPr>
              <a:t>03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28520" y="1847520"/>
            <a:ext cx="360" cy="3105360"/>
          </a:xfrm>
          <a:prstGeom prst="line">
            <a:avLst/>
          </a:prstGeom>
          <a:ln w="28575">
            <a:solidFill>
              <a:srgbClr val="b8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"/>
          <p:cNvSpPr/>
          <p:nvPr/>
        </p:nvSpPr>
        <p:spPr>
          <a:xfrm>
            <a:off x="781200" y="1619280"/>
            <a:ext cx="495000" cy="495000"/>
          </a:xfrm>
          <a:prstGeom prst="ellipse">
            <a:avLst/>
          </a:prstGeom>
          <a:solidFill>
            <a:srgbClr val="25b9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"/>
          <p:cNvSpPr/>
          <p:nvPr/>
        </p:nvSpPr>
        <p:spPr>
          <a:xfrm>
            <a:off x="781200" y="1704960"/>
            <a:ext cx="495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6000"/>
              </a:lnSpc>
              <a:buNone/>
            </a:pPr>
            <a:r>
              <a:rPr b="1" lang="en-US" sz="143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1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495440" y="1609560"/>
            <a:ext cx="3428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机器人取出 </a:t>
            </a:r>
            <a:r>
              <a:rPr b="1" lang="en-US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HDD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495440" y="2019240"/>
            <a:ext cx="361908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8000"/>
              </a:lnSpc>
              <a:buNone/>
            </a:pPr>
            <a:r>
              <a:rPr b="0" lang="zh-CN" sz="128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末端夹具抓取硬盘，并保持稳定姿态。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81200" y="2990880"/>
            <a:ext cx="495000" cy="495000"/>
          </a:xfrm>
          <a:prstGeom prst="ellipse">
            <a:avLst/>
          </a:prstGeom>
          <a:solidFill>
            <a:srgbClr val="25b9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"/>
          <p:cNvSpPr/>
          <p:nvPr/>
        </p:nvSpPr>
        <p:spPr>
          <a:xfrm>
            <a:off x="781200" y="3076560"/>
            <a:ext cx="495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6000"/>
              </a:lnSpc>
              <a:buNone/>
            </a:pPr>
            <a:r>
              <a:rPr b="1" lang="en-US" sz="143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2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495440" y="2981160"/>
            <a:ext cx="3428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移动到服务器槽位附近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495440" y="3390840"/>
            <a:ext cx="361908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8000"/>
              </a:lnSpc>
              <a:buNone/>
            </a:pPr>
            <a:r>
              <a:rPr b="0" lang="zh-CN" sz="128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示教坐标与视觉定位负责预对准，先把误差收敛到槽口附近。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81200" y="4362480"/>
            <a:ext cx="495000" cy="495000"/>
          </a:xfrm>
          <a:prstGeom prst="ellipse">
            <a:avLst/>
          </a:prstGeom>
          <a:solidFill>
            <a:srgbClr val="f6a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"/>
          <p:cNvSpPr/>
          <p:nvPr/>
        </p:nvSpPr>
        <p:spPr>
          <a:xfrm>
            <a:off x="781200" y="4448160"/>
            <a:ext cx="495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6000"/>
              </a:lnSpc>
              <a:buNone/>
            </a:pPr>
            <a:r>
              <a:rPr b="1" lang="en-US" sz="1430" spc="-1" strike="noStrike">
                <a:solidFill>
                  <a:srgbClr val="f7fbff"/>
                </a:solidFill>
                <a:latin typeface="Noto Sans CJK SC"/>
                <a:ea typeface="Noto Sans CJK SC"/>
              </a:rPr>
              <a:t>3</a:t>
            </a:r>
            <a:endParaRPr b="0" lang="en-US" sz="143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495440" y="4352760"/>
            <a:ext cx="3428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力传感器完成深插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495440" y="4762440"/>
            <a:ext cx="361908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8000"/>
              </a:lnSpc>
              <a:buNone/>
            </a:pPr>
            <a:r>
              <a:rPr b="0" lang="zh-CN" sz="128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接触后检测反力，搜索阻力更小的方向，再以受控推力继续插入。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619600" y="1447920"/>
            <a:ext cx="5943240" cy="3828600"/>
          </a:xfrm>
          <a:prstGeom prst="roundRect">
            <a:avLst>
              <a:gd name="adj" fmla="val 298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"/>
          <p:cNvSpPr/>
          <p:nvPr/>
        </p:nvSpPr>
        <p:spPr>
          <a:xfrm>
            <a:off x="5619600" y="5391000"/>
            <a:ext cx="5943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6000"/>
              </a:lnSpc>
              <a:buNone/>
            </a:pPr>
            <a:r>
              <a:rPr b="0" lang="zh-CN" sz="980" spc="-1" strike="noStrike">
                <a:solidFill>
                  <a:srgbClr val="688092"/>
                </a:solidFill>
                <a:latin typeface="Noto Sans CJK SC"/>
                <a:ea typeface="Noto Sans CJK SC"/>
              </a:rPr>
              <a:t>三菱电机公开的服务器 </a:t>
            </a:r>
            <a:r>
              <a:rPr b="0" lang="en-US" sz="980" spc="-1" strike="noStrike">
                <a:solidFill>
                  <a:srgbClr val="688092"/>
                </a:solidFill>
                <a:latin typeface="Noto Sans CJK SC"/>
                <a:ea typeface="Noto Sans CJK SC"/>
              </a:rPr>
              <a:t>HDD </a:t>
            </a:r>
            <a:r>
              <a:rPr b="0" lang="zh-CN" sz="980" spc="-1" strike="noStrike">
                <a:solidFill>
                  <a:srgbClr val="688092"/>
                </a:solidFill>
                <a:latin typeface="Noto Sans CJK SC"/>
                <a:ea typeface="Noto Sans CJK SC"/>
              </a:rPr>
              <a:t>装配示意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62120" y="5848200"/>
            <a:ext cx="10801080" cy="495000"/>
          </a:xfrm>
          <a:prstGeom prst="roundRect">
            <a:avLst>
              <a:gd name="adj" fmla="val 23077"/>
            </a:avLst>
          </a:prstGeom>
          <a:solidFill>
            <a:srgbClr val="e3f2f6"/>
          </a:solidFill>
          <a:ln w="9525">
            <a:solidFill>
              <a:srgbClr val="b7dc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"/>
          <p:cNvSpPr/>
          <p:nvPr/>
        </p:nvSpPr>
        <p:spPr>
          <a:xfrm>
            <a:off x="990720" y="5972040"/>
            <a:ext cx="10343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6000"/>
              </a:lnSpc>
              <a:buNone/>
            </a:pPr>
            <a:r>
              <a:rPr b="1" lang="zh-CN" sz="1430" spc="-1" strike="noStrike">
                <a:solidFill>
                  <a:srgbClr val="21495c"/>
                </a:solidFill>
                <a:latin typeface="Noto Sans CJK SC"/>
                <a:ea typeface="Noto Sans CJK SC"/>
              </a:rPr>
              <a:t>先用视觉把硬盘带到槽位附近，再用力传感器完成最后的精密插入，并通过“力 </a:t>
            </a:r>
            <a:r>
              <a:rPr b="1" lang="en-US" sz="1430" spc="-1" strike="noStrike">
                <a:solidFill>
                  <a:srgbClr val="21495c"/>
                </a:solidFill>
                <a:latin typeface="Noto Sans CJK SC"/>
                <a:ea typeface="Noto Sans CJK SC"/>
              </a:rPr>
              <a:t>+ </a:t>
            </a:r>
            <a:r>
              <a:rPr b="1" lang="zh-CN" sz="1430" spc="-1" strike="noStrike">
                <a:solidFill>
                  <a:srgbClr val="21495c"/>
                </a:solidFill>
                <a:latin typeface="Noto Sans CJK SC"/>
                <a:ea typeface="Noto Sans CJK SC"/>
              </a:rPr>
              <a:t>位置”数据判断插入是否正常。</a:t>
            </a:r>
            <a:endParaRPr b="0" lang="en-US" sz="14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609480" y="399960"/>
            <a:ext cx="99057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三菱方案面对的关键问题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09480" y="1019160"/>
            <a:ext cx="647280" cy="47160"/>
          </a:xfrm>
          <a:prstGeom prst="rect">
            <a:avLst/>
          </a:prstGeom>
          <a:solidFill>
            <a:srgbClr val="55dd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>
            <a:off x="11144160" y="438120"/>
            <a:ext cx="45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6000"/>
              </a:lnSpc>
              <a:buNone/>
            </a:pPr>
            <a:r>
              <a:rPr b="1" lang="en-US" sz="1280" spc="-1" strike="noStrike">
                <a:solidFill>
                  <a:srgbClr val="658094"/>
                </a:solidFill>
                <a:latin typeface="Noto Sans CJK SC"/>
                <a:ea typeface="Noto Sans CJK SC"/>
              </a:rPr>
              <a:t>04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85800" y="1486080"/>
            <a:ext cx="4095360" cy="3276360"/>
          </a:xfrm>
          <a:prstGeom prst="roundRect">
            <a:avLst>
              <a:gd name="adj" fmla="val 348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685800" y="4905360"/>
            <a:ext cx="4095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0" lang="zh-CN" sz="980" spc="-1" strike="noStrike">
                <a:solidFill>
                  <a:srgbClr val="688092"/>
                </a:solidFill>
                <a:latin typeface="Noto Sans CJK SC"/>
                <a:ea typeface="Noto Sans CJK SC"/>
              </a:rPr>
              <a:t>力传感器安装在机器人末端与夹具之间</a:t>
            </a:r>
            <a:endParaRPr b="0" lang="en-US" sz="98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286240" y="149544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en-US" sz="1200" spc="-1" strike="noStrike">
                <a:solidFill>
                  <a:srgbClr val="25b9d3"/>
                </a:solidFill>
                <a:latin typeface="Noto Sans CJK SC"/>
                <a:ea typeface="Noto Sans CJK SC"/>
              </a:rPr>
              <a:t>01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905440" y="1476360"/>
            <a:ext cx="514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深槽内部形成视觉盲区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905440" y="1838160"/>
            <a:ext cx="52858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zh-CN" sz="120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硬盘进入槽口后，相机难以继续观察导轨与背板连接器。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286240" y="2495520"/>
            <a:ext cx="5905440" cy="360"/>
          </a:xfrm>
          <a:prstGeom prst="line">
            <a:avLst/>
          </a:prstGeom>
          <a:ln w="9525">
            <a:solidFill>
              <a:srgbClr val="d4e0e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86240" y="278136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en-US" sz="1200" spc="-1" strike="noStrike">
                <a:solidFill>
                  <a:srgbClr val="25b9d3"/>
                </a:solidFill>
                <a:latin typeface="Noto Sans CJK SC"/>
                <a:ea typeface="Noto Sans CJK SC"/>
              </a:rPr>
              <a:t>02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905440" y="2762280"/>
            <a:ext cx="514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零件与安装位置存在偏差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905440" y="3124080"/>
            <a:ext cx="52858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zh-CN" sz="120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硬盘尺寸、夹具安装和上游装配误差会叠加到最终插入位置。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286240" y="3781080"/>
            <a:ext cx="5905440" cy="360"/>
          </a:xfrm>
          <a:prstGeom prst="line">
            <a:avLst/>
          </a:prstGeom>
          <a:ln w="9525">
            <a:solidFill>
              <a:srgbClr val="d4e0e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>
            <a:off x="5286240" y="406728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en-US" sz="1200" spc="-1" strike="noStrike">
                <a:solidFill>
                  <a:srgbClr val="d97706"/>
                </a:solidFill>
                <a:latin typeface="Noto Sans CJK SC"/>
                <a:ea typeface="Noto Sans CJK SC"/>
              </a:rPr>
              <a:t>03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905440" y="4048200"/>
            <a:ext cx="514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连接器不能承受异常冲击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905440" y="4410000"/>
            <a:ext cx="52858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zh-CN" sz="120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歪插或硬推可能损伤硬盘连接器、服务器背板和托架。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5286240" y="5067000"/>
            <a:ext cx="5905440" cy="360"/>
          </a:xfrm>
          <a:prstGeom prst="line">
            <a:avLst/>
          </a:prstGeom>
          <a:ln w="9525">
            <a:solidFill>
              <a:srgbClr val="d4e0e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5286240" y="535320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en-US" sz="1200" spc="-1" strike="noStrike">
                <a:solidFill>
                  <a:srgbClr val="25b9d3"/>
                </a:solidFill>
                <a:latin typeface="Noto Sans CJK SC"/>
                <a:ea typeface="Noto Sans CJK SC"/>
              </a:rPr>
              <a:t>04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905440" y="5334120"/>
            <a:ext cx="514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6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装配质量需要留痕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5905440" y="5695920"/>
            <a:ext cx="52858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zh-CN" sz="1200" spc="-1" strike="noStrike">
                <a:solidFill>
                  <a:srgbClr val="456176"/>
                </a:solidFill>
                <a:latin typeface="Noto Sans CJK SC"/>
                <a:ea typeface="Noto Sans CJK SC"/>
              </a:rPr>
              <a:t>部分装配需要保持指定推力和时间，并记录过程数据。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5800" y="5400000"/>
            <a:ext cx="4095360" cy="1080000"/>
          </a:xfrm>
          <a:prstGeom prst="roundRect">
            <a:avLst>
              <a:gd name="adj" fmla="val 14634"/>
            </a:avLst>
          </a:prstGeom>
          <a:solidFill>
            <a:srgbClr val="fff2de"/>
          </a:solidFill>
          <a:ln w="9525">
            <a:solidFill>
              <a:srgbClr val="f2cf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895320" y="5600880"/>
            <a:ext cx="971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280" spc="-1" strike="noStrike">
                <a:solidFill>
                  <a:srgbClr val="a45b10"/>
                </a:solidFill>
                <a:latin typeface="Noto Sans CJK SC"/>
                <a:ea typeface="Noto Sans CJK SC"/>
              </a:rPr>
              <a:t>核心矛盾</a:t>
            </a:r>
            <a:endParaRPr b="0" lang="en-US" sz="1280" spc="-1" strike="noStrike"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895320" y="5896080"/>
            <a:ext cx="3638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1200" spc="-1" strike="noStrike">
                <a:solidFill>
                  <a:srgbClr val="5a4631"/>
                </a:solidFill>
                <a:latin typeface="Noto Sans CJK SC"/>
                <a:ea typeface="Noto Sans CJK SC"/>
              </a:rPr>
              <a:t>定位精度只能把硬盘送到槽口；接触后的安全插入还需要力控。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609480" y="399960"/>
            <a:ext cx="99057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1" lang="zh-CN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问题与解决方法的对应关系</a:t>
            </a:r>
            <a:endParaRPr b="0" lang="en-US" sz="2550" spc="-1" strike="noStrike"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09480" y="1019160"/>
            <a:ext cx="647280" cy="47160"/>
          </a:xfrm>
          <a:prstGeom prst="rect">
            <a:avLst/>
          </a:prstGeom>
          <a:solidFill>
            <a:srgbClr val="55dd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11144160" y="438120"/>
            <a:ext cx="45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6000"/>
              </a:lnSpc>
              <a:buNone/>
            </a:pPr>
            <a:r>
              <a:rPr b="1" lang="en-US" sz="1280" spc="-1" strike="noStrike">
                <a:solidFill>
                  <a:srgbClr val="658094"/>
                </a:solidFill>
                <a:latin typeface="Noto Sans CJK SC"/>
                <a:ea typeface="Noto Sans CJK SC"/>
              </a:rPr>
              <a:t>05</a:t>
            </a:r>
            <a:endParaRPr b="0" lang="en-US" sz="1280" spc="-1" strike="noStrike">
              <a:latin typeface="Arial"/>
            </a:endParaRPr>
          </a:p>
        </p:txBody>
      </p:sp>
      <p:graphicFrame>
        <p:nvGraphicFramePr>
          <p:cNvPr id="124" name=""/>
          <p:cNvGraphicFramePr/>
          <p:nvPr/>
        </p:nvGraphicFramePr>
        <p:xfrm>
          <a:off x="685800" y="1390680"/>
          <a:ext cx="10820160" cy="4057200"/>
        </p:xfrm>
        <a:graphic>
          <a:graphicData uri="http://schemas.openxmlformats.org/drawingml/2006/table">
            <a:tbl>
              <a:tblPr/>
              <a:tblGrid>
                <a:gridCol w="1885680"/>
                <a:gridCol w="3981240"/>
                <a:gridCol w="49532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zh-CN" sz="1280" spc="-1" strike="noStrike">
                          <a:solidFill>
                            <a:srgbClr val="f7fbff"/>
                          </a:solidFill>
                          <a:latin typeface="Noto Sans CJK SC"/>
                          <a:ea typeface="Noto Sans CJK SC"/>
                        </a:rPr>
                        <a:t>关键问题</a:t>
                      </a:r>
                      <a:endParaRPr b="0" lang="en-US" sz="128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7172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80" spc="-1" strike="noStrike">
                          <a:solidFill>
                            <a:srgbClr val="f7fbff"/>
                          </a:solidFill>
                          <a:latin typeface="Noto Sans CJK SC"/>
                          <a:ea typeface="Noto Sans CJK SC"/>
                        </a:rPr>
                        <a:t>三菱公开方案</a:t>
                      </a:r>
                      <a:endParaRPr b="0" lang="en-US" sz="128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7172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280" spc="-1" strike="noStrike">
                          <a:solidFill>
                            <a:srgbClr val="f7fbff"/>
                          </a:solidFill>
                          <a:latin typeface="Noto Sans CJK SC"/>
                          <a:ea typeface="Noto Sans CJK SC"/>
                        </a:rPr>
                        <a:t>对本项目的参考</a:t>
                      </a:r>
                      <a:endParaRPr b="0" lang="en-US" sz="128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71726"/>
                    </a:solidFill>
                  </a:tcPr>
                </a:tc>
              </a:tr>
              <a:tr h="895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深槽视觉盲区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力传感器在视觉难以检测的区域执行搜索和深插。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接触后切换到 </a:t>
                      </a:r>
                      <a:r>
                        <a:rPr b="0" lang="en-US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search / insert </a:t>
                      </a: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状态，避免继续纯位置硬推。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95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尺寸与装配偏差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视觉传感器与力传感器共同补偿工件尺寸和放置位置变化。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视觉完成预定位，侧向力和力矩用于末端对中。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</a:tr>
              <a:tr h="895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连接器易损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接触检测、柔顺和恒力控制限制装配过程中的异常受力。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设置轴向力与侧向力阈值，触发停止、退出和限次重试。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95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质量追溯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f2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实时采集装配力，并保存与位置同步的力日志。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130" spc="-1" strike="noStrike">
                          <a:solidFill>
                            <a:srgbClr val="102334"/>
                          </a:solidFill>
                          <a:latin typeface="Noto Sans CJK SC"/>
                          <a:ea typeface="Noto Sans CJK SC"/>
                        </a:rPr>
                        <a:t>建立力–位移曲线，关联盘位、硬盘编号和测试结果。</a:t>
                      </a:r>
                      <a:endParaRPr b="0" lang="en-US" sz="113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25" name=""/>
          <p:cNvSpPr/>
          <p:nvPr/>
        </p:nvSpPr>
        <p:spPr>
          <a:xfrm>
            <a:off x="685800" y="5762520"/>
            <a:ext cx="10820160" cy="533160"/>
          </a:xfrm>
          <a:prstGeom prst="roundRect">
            <a:avLst>
              <a:gd name="adj" fmla="val 21429"/>
            </a:avLst>
          </a:prstGeom>
          <a:solidFill>
            <a:srgbClr val="eaf2f7"/>
          </a:solidFill>
          <a:ln w="9525">
            <a:solidFill>
              <a:srgbClr val="c6d9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914400" y="5905440"/>
            <a:ext cx="10362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6000"/>
              </a:lnSpc>
              <a:buNone/>
            </a:pPr>
            <a:r>
              <a:rPr b="1" lang="zh-CN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技术特点总结：</a:t>
            </a:r>
            <a:r>
              <a:rPr b="1" lang="en-US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Vision + Force </a:t>
            </a:r>
            <a:r>
              <a:rPr b="1" lang="zh-CN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双重定位、柔顺</a:t>
            </a:r>
            <a:r>
              <a:rPr b="1" lang="en-US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/</a:t>
            </a:r>
            <a:r>
              <a:rPr b="1" lang="zh-CN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恒力插入控制、</a:t>
            </a:r>
            <a:r>
              <a:rPr b="1" lang="en-US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Force + Position </a:t>
            </a:r>
            <a:r>
              <a:rPr b="1" lang="zh-CN" sz="1350" spc="-1" strike="noStrike">
                <a:solidFill>
                  <a:srgbClr val="294b60"/>
                </a:solidFill>
                <a:latin typeface="Noto Sans CJK SC"/>
                <a:ea typeface="Noto Sans CJK SC"/>
              </a:rPr>
              <a:t>数据记录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09480" y="6477120"/>
            <a:ext cx="10286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6000"/>
              </a:lnSpc>
              <a:buNone/>
            </a:pPr>
            <a:r>
              <a:rPr b="0" lang="zh-CN" sz="900" spc="-1" strike="noStrike">
                <a:solidFill>
                  <a:srgbClr val="71899a"/>
                </a:solidFill>
                <a:latin typeface="Noto Sans CJK SC"/>
                <a:ea typeface="Noto Sans CJK SC"/>
              </a:rPr>
              <a:t>公开资料未披露具体力阈值、搜索轨迹、速度和重试参数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40000" y="2952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8000"/>
              </a:lnSpc>
              <a:buNone/>
            </a:pPr>
            <a:r>
              <a:rPr b="1" lang="zh-CN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视觉定位方</a:t>
            </a:r>
            <a:r>
              <a:rPr b="1" lang="zh-CN" sz="255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案：</a:t>
            </a:r>
            <a:r>
              <a:rPr b="1" lang="zh-CN" sz="200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我到底要</a:t>
            </a:r>
            <a:r>
              <a:rPr b="1" lang="zh-CN" sz="200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找哪一个硬盘</a:t>
            </a:r>
            <a:r>
              <a:rPr b="1" lang="zh-CN" sz="200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槽？这个硬盘</a:t>
            </a:r>
            <a:r>
              <a:rPr b="1" lang="zh-CN" sz="200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槽的精确插入</a:t>
            </a:r>
            <a:r>
              <a:rPr b="1" lang="zh-CN" sz="200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中心和姿态是</a:t>
            </a:r>
            <a:r>
              <a:rPr b="1" lang="zh-CN" sz="2000" spc="-1" strike="noStrike">
                <a:solidFill>
                  <a:srgbClr val="102334"/>
                </a:solidFill>
                <a:latin typeface="Noto Sans CJK SC"/>
                <a:ea typeface="Noto Sans CJK SC"/>
              </a:rPr>
              <a:t>多少？</a:t>
            </a:r>
            <a:endParaRPr b="0" lang="en-US" sz="20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10200" y="1080000"/>
            <a:ext cx="2989800" cy="567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YOLO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“</a:t>
            </a:r>
            <a:r>
              <a:rPr b="0" lang="zh-CN" sz="1800" spc="-1" strike="noStrike">
                <a:latin typeface="Arial"/>
              </a:rPr>
              <a:t>找到它”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↓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Keypoint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“</a:t>
            </a:r>
            <a:r>
              <a:rPr b="0" lang="zh-CN" sz="1800" spc="-1" strike="noStrike">
                <a:latin typeface="Arial"/>
              </a:rPr>
              <a:t>找到精确特</a:t>
            </a:r>
            <a:r>
              <a:rPr b="0" lang="zh-CN" sz="1800" spc="-1" strike="noStrike">
                <a:latin typeface="Arial"/>
              </a:rPr>
              <a:t>征”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↓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RGB-D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“</a:t>
            </a:r>
            <a:r>
              <a:rPr b="0" lang="zh-CN" sz="1800" spc="-1" strike="noStrike">
                <a:latin typeface="Arial"/>
              </a:rPr>
              <a:t>知道它在三维</a:t>
            </a:r>
            <a:r>
              <a:rPr b="0" lang="zh-CN" sz="1800" spc="-1" strike="noStrike">
                <a:latin typeface="Arial"/>
              </a:rPr>
              <a:t>空间哪里”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↓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Hand-Eye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“</a:t>
            </a:r>
            <a:r>
              <a:rPr b="0" lang="zh-CN" sz="1800" spc="-1" strike="noStrike">
                <a:latin typeface="Arial"/>
              </a:rPr>
              <a:t>告诉机器人在</a:t>
            </a:r>
            <a:r>
              <a:rPr b="0" lang="zh-CN" sz="1800" spc="-1" strike="noStrike">
                <a:latin typeface="Arial"/>
              </a:rPr>
              <a:t>哪里”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   ↓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Force Sensor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“</a:t>
            </a:r>
            <a:r>
              <a:rPr b="0" lang="zh-CN" sz="1800" spc="-1" strike="noStrike">
                <a:latin typeface="Arial"/>
              </a:rPr>
              <a:t>安全插进去”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2026-09-09T08:31:54Z</dcterms:created>
  <dc:creator>Walnut Exporter</dc:creator>
  <dc:description/>
  <dc:language>zh-CN</dc:language>
  <cp:lastModifiedBy/>
  <dcterms:modified xsi:type="dcterms:W3CDTF">2026-09-09T17:26:27Z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