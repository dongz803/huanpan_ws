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整体技术思路根据当前项目架构与用户提供的视觉方案整理。</a:t>
            </a:r>
          </a:p>
          <a:p>
            <a:r>
              <a:t>当前已验证：MoveIt/MuJoCo 插入流程、力保护与服务器机组 2D 检测。插入稳定性仍需更多重复试验。</a:t>
            </a:r>
          </a:p>
          <a:p>
            <a:r>
              <a:t>尚未验证：槽位 6D 位姿、手眼标定、视觉伺服和真实力控插盘。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图片：outputs/model_validation/mujoco_ag95_fixed.png。</a:t>
            </a:r>
          </a:p>
          <a:p>
            <a:r>
              <a:t>图片：outputs/model_validation/mujoco_drive_proxy_visible.png。</a:t>
            </a:r>
          </a:p>
          <a:p>
            <a:r>
              <a:t>模型：src/huanpan_description/mujoco/universal_robots_ur5e/。</a:t>
            </a:r>
          </a:p>
          <a:p>
            <a:r>
              <a:t>12盘位坐标来源：sa5212_empty_rack.xml。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架构来源：src/huanpan_motion/README.md。</a:t>
            </a:r>
          </a:p>
          <a:p>
            <a:r>
              <a:t>构建记录：build/huanpan_motion/colcon_build.rc = 0。</a:t>
            </a:r>
          </a:p>
          <a:p>
            <a:r>
              <a:t>测试记录：build/huanpan_motion/test_results/huanpan_motion/test_trajectory_processor.gtest.xml，2 tests，0 failures。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力保护实现：src/huanpan_mujoco/huanpan_mujoco/force_guard.py。</a:t>
            </a:r>
          </a:p>
          <a:p>
            <a:r>
              <a:t>扰动实现：src/huanpan_mujoco/huanpan_mujoco/disturbance.py。</a:t>
            </a:r>
          </a:p>
          <a:p>
            <a:r>
              <a:t>超力日志：log/ros/insertion_demo_40947_1789535471454.log，max force 30.67 N。</a:t>
            </a:r>
          </a:p>
          <a:p>
            <a:r>
              <a:t>正常插入日志：log/ros/insertion_demo_42429_1789535907065.log，max force 3.02 N。</a:t>
            </a:r>
          </a:p>
          <a:p>
            <a:r>
              <a:t>重复插入日志：log/ros/insertion_demo_42563_1789535955738.log，max force 2.81 N。</a:t>
            </a:r>
          </a:p>
          <a:p>
            <a:r>
              <a:t>三次日志均由 bridge 启用 disturbance_scale=0.2，seed=7；启动文件中的默认值仍为 disturbance_enabled=false。</a:t>
            </a:r>
          </a:p>
          <a:p>
            <a:r>
              <a:t>当前证据只有 slot_09、代理硬盘与少量重复试验，只能说明链路可运行，不能说明插入已经稳定。</a:t>
            </a:r>
          </a:p>
          <a:p>
            <a:r>
              <a:t>25 N 为仿真起始阈值，不代表真实硬盘或背板的安全标定值。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真实检测图：outputs/perception/result_new.png。</a:t>
            </a:r>
          </a:p>
          <a:p>
            <a:r>
              <a:t>训练曲线：outputs/perception/runs/server_unit_smoke/results.png。</a:t>
            </a:r>
          </a:p>
          <a:p>
            <a:r>
              <a:t>训练结果：precision 0.98925，recall 1.0，mAP50 0.995，mAP50-95 0.6955。</a:t>
            </a:r>
          </a:p>
          <a:p>
            <a:r>
              <a:t>检测明细：outputs/perception/demo_pred/detections.json。</a:t>
            </a:r>
          </a:p>
          <a:p>
            <a:r>
              <a:t>对未标注21张统计：15张至少有一个检测，6张漏检；其中存在低置信度重复框。</a:t>
            </a:r>
          </a:p>
          <a:p>
            <a:r>
              <a:t>仿真槽位数据仅保留用于数据格式和结构验证，未作为当前真实模型的泛化证据。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该页为理论探索和下一阶段设计路线，不代表当前已实现功能。</a:t>
            </a:r>
          </a:p>
          <a:p>
            <a:r>
              <a:t>当前实际功能止于 server_unit 2D检测。</a:t>
            </a:r>
          </a:p>
          <a:p>
            <a:r>
              <a:t>后续需确定 eye-to-hand 或 eye-in-hand 安装方式，再进行手眼标定与视觉伺服实现。</a:t>
            </a:r>
          </a:p>
          <a:p>
            <a:r>
              <a:t>下一阶段优先级：补齐真实数据、槽位关键点与深度/PnP、手眼标定、运动联调。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尾页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36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02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服务器换硬盘机器人项目进展汇报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97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整体思路：视觉定位、规划接近、力控插入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矩形 61"/>
          <p:cNvSpPr>
            <a:spLocks noGrp="1"/>
          </p:cNvSpPr>
          <p:nvPr/>
        </p:nvSpPr>
        <p:spPr>
          <a:xfrm>
            <a:off x="1000125" y="2343150"/>
            <a:ext cx="10096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目标输出是机器人可执行的槽位位姿，并通过力觉保护完成插入。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1028700" y="2857500"/>
            <a:ext cx="1952625" cy="1352550"/>
          </a:xfrm>
          <a:prstGeom prst="roundRect">
            <a:avLst>
              <a:gd name="adj" fmla="val 8451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028700" y="2857500"/>
            <a:ext cx="1952625" cy="57150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1143000" y="3028950"/>
            <a:ext cx="17240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视觉感知</a:t>
            </a:r>
            <a:endParaRPr sz="15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1143000" y="3352800"/>
            <a:ext cx="17240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识别服务器与目标槽位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2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输出中心、方向与深度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3371850" y="2857500"/>
            <a:ext cx="2095500" cy="1352550"/>
          </a:xfrm>
          <a:prstGeom prst="roundRect">
            <a:avLst>
              <a:gd name="adj" fmla="val 8451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3371850" y="2857500"/>
            <a:ext cx="2095500" cy="57150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3486150" y="3028950"/>
            <a:ext cx="1866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6D 位姿</a:t>
            </a:r>
            <a:endParaRPr sz="15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3486150" y="3352800"/>
            <a:ext cx="18669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关键点 / 深度 / PnP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2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相机坐标转换到机器人坐标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5857875" y="2857500"/>
            <a:ext cx="2095500" cy="1352550"/>
          </a:xfrm>
          <a:prstGeom prst="roundRect">
            <a:avLst>
              <a:gd name="adj" fmla="val 8451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5857875" y="2857500"/>
            <a:ext cx="2095500" cy="57150"/>
          </a:xfrm>
          <a:prstGeom prst="rect">
            <a:avLst/>
          </a:prstGeom>
          <a:solidFill>
            <a:srgbClr val="145CA8"/>
          </a:solidFill>
          <a:ln w="0">
            <a:noFill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5972175" y="3028950"/>
            <a:ext cx="1866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规划与接近</a:t>
            </a:r>
            <a:endParaRPr sz="15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5972175" y="3352800"/>
            <a:ext cx="18669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KDL、碰撞检测、OMPL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2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轨迹时间参数化与执行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8343900" y="2857500"/>
            <a:ext cx="2095500" cy="1352550"/>
          </a:xfrm>
          <a:prstGeom prst="roundRect">
            <a:avLst>
              <a:gd name="adj" fmla="val 8451"/>
            </a:avLst>
          </a:prstGeom>
          <a:solidFill>
            <a:srgbClr val="FFF1DF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8343900" y="2857500"/>
            <a:ext cx="2095500" cy="57150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8458200" y="3028950"/>
            <a:ext cx="1866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接触与插入</a:t>
            </a:r>
            <a:endParaRPr sz="15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8458200" y="3352800"/>
            <a:ext cx="18669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低速接近、持续超力判断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2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中止、撤退与受控插入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18" name="直接箭头连接符 117"/>
          <p:cNvCxnSpPr>
            <a:stCxn id="63" idx="3"/>
            <a:endCxn id="67" idx="1"/>
          </p:cNvCxnSpPr>
          <p:nvPr/>
        </p:nvCxnSpPr>
        <p:spPr>
          <a:xfrm>
            <a:off x="2981325" y="3533775"/>
            <a:ext cx="390525" cy="0"/>
          </a:xfrm>
          <a:prstGeom prst="straightConnector1">
            <a:avLst/>
          </a:prstGeom>
          <a:ln w="20003">
            <a:solidFill>
              <a:srgbClr val="22A9D6"/>
            </a:solidFill>
            <a:prstDash val="solid"/>
            <a:tailEnd type="triangle" w="sm" len="sm"/>
          </a:ln>
        </p:spPr>
      </p:cxnSp>
      <p:cxnSp>
        <p:nvCxnSpPr>
          <p:cNvPr id="119" name="直接箭头连接符 118"/>
          <p:cNvCxnSpPr>
            <a:stCxn id="67" idx="3"/>
            <a:endCxn id="71" idx="1"/>
          </p:cNvCxnSpPr>
          <p:nvPr/>
        </p:nvCxnSpPr>
        <p:spPr>
          <a:xfrm>
            <a:off x="5467350" y="3533775"/>
            <a:ext cx="390525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cxnSp>
        <p:nvCxnSpPr>
          <p:cNvPr id="120" name="直接箭头连接符 119"/>
          <p:cNvCxnSpPr>
            <a:stCxn id="71" idx="3"/>
            <a:endCxn id="75" idx="1"/>
          </p:cNvCxnSpPr>
          <p:nvPr/>
        </p:nvCxnSpPr>
        <p:spPr>
          <a:xfrm>
            <a:off x="7953375" y="3533775"/>
            <a:ext cx="390525" cy="0"/>
          </a:xfrm>
          <a:prstGeom prst="straightConnector1">
            <a:avLst/>
          </a:prstGeom>
          <a:ln w="20003">
            <a:solidFill>
              <a:srgbClr val="E89332"/>
            </a:solidFill>
            <a:prstDash val="solid"/>
            <a:tailEnd type="triangle" w="sm" len="sm"/>
          </a:ln>
        </p:spPr>
      </p:cxnSp>
      <p:sp>
        <p:nvSpPr>
          <p:cNvPr id="82" name="圆角矩形 81"/>
          <p:cNvSpPr>
            <a:spLocks noGrp="1"/>
          </p:cNvSpPr>
          <p:nvPr/>
        </p:nvSpPr>
        <p:spPr>
          <a:xfrm>
            <a:off x="1104900" y="4648200"/>
            <a:ext cx="1047750" cy="276225"/>
          </a:xfrm>
          <a:prstGeom prst="roundRect">
            <a:avLst>
              <a:gd name="adj" fmla="val 41379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defRPr sz="9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当前已验证</a:t>
            </a:r>
            <a:endParaRPr sz="97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2305050" y="46767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MoveIt + MuJoCo 插入流程、力保护、D435 图像采集和 YOLO 2D 检测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1104900" y="5095875"/>
            <a:ext cx="1047750" cy="276225"/>
          </a:xfrm>
          <a:prstGeom prst="roundRect">
            <a:avLst>
              <a:gd name="adj" fmla="val 41379"/>
            </a:avLst>
          </a:prstGeom>
          <a:solidFill>
            <a:srgbClr val="FFF1DF"/>
          </a:solidFill>
          <a:ln w="9525">
            <a:solidFill>
              <a:srgbClr val="E89332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defRPr sz="97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rPr>
              <a:t>继续探索</a:t>
            </a:r>
            <a:endParaRPr sz="975" b="1">
              <a:solidFill>
                <a:srgbClr val="E893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2305050" y="512445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槽位关键点、深度定位、手眼标定、视觉伺服和视觉力控联调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直接连接符 85"/>
          <p:cNvSpPr>
            <a:spLocks noGrp="1"/>
          </p:cNvSpPr>
          <p:nvPr/>
        </p:nvSpPr>
        <p:spPr>
          <a:xfrm>
            <a:off x="1028700" y="5562600"/>
            <a:ext cx="9410700" cy="0"/>
          </a:xfrm>
          <a:prstGeom prst="line">
            <a:avLst/>
          </a:prstGeom>
          <a:noFill/>
          <a:ln w="9525">
            <a:solidFill>
              <a:srgbClr val="C9D8E4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1028700" y="5743575"/>
            <a:ext cx="9410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72879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28796"/>
                </a:solidFill>
                <a:latin typeface="微软雅黑"/>
                <a:ea typeface="微软雅黑"/>
                <a:cs typeface="微软雅黑"/>
              </a:rPr>
              <a:t>本阶段范围：固定式机械臂换盘工作站。底盘与移动导航暂不纳入。</a:t>
            </a:r>
            <a:endParaRPr sz="1125" b="0">
              <a:solidFill>
                <a:srgbClr val="72879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36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03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+mn-ea"/>
              </a:rPr>
              <a:t>机械与数字模型：UR5e、AG95、硬盘架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4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95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3"/>
          <a:srcRect t="3333" b="3333"/>
          <a:stretch>
            <a:fillRect/>
          </a:stretch>
        </p:blipFill>
        <p:spPr>
          <a:xfrm>
            <a:off x="952500" y="2400300"/>
            <a:ext cx="3048000" cy="2133600"/>
          </a:xfrm>
          <a:prstGeom prst="roundRect">
            <a:avLst>
              <a:gd name="adj" fmla="val 5357"/>
            </a:avLst>
          </a:prstGeom>
        </p:spPr>
      </p:pic>
      <p:sp>
        <p:nvSpPr>
          <p:cNvPr id="63" name="圆角矩形 62"/>
          <p:cNvSpPr>
            <a:spLocks noGrp="1"/>
          </p:cNvSpPr>
          <p:nvPr/>
        </p:nvSpPr>
        <p:spPr>
          <a:xfrm>
            <a:off x="952500" y="2400300"/>
            <a:ext cx="3048000" cy="2133600"/>
          </a:xfrm>
          <a:prstGeom prst="roundRect">
            <a:avLst>
              <a:gd name="adj" fmla="val 5357"/>
            </a:avLst>
          </a:prstGeom>
          <a:noFill/>
          <a:ln w="9525">
            <a:solidFill>
              <a:srgbClr val="AFC4D2"/>
            </a:solidFill>
            <a:prstDash val="solid"/>
          </a:ln>
        </p:spPr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4"/>
          <a:srcRect t="15417" b="15417"/>
          <a:stretch>
            <a:fillRect/>
          </a:stretch>
        </p:blipFill>
        <p:spPr>
          <a:xfrm>
            <a:off x="952500" y="4648200"/>
            <a:ext cx="3048000" cy="1581150"/>
          </a:xfrm>
          <a:prstGeom prst="roundRect">
            <a:avLst>
              <a:gd name="adj" fmla="val 7229"/>
            </a:avLst>
          </a:prstGeom>
        </p:spPr>
      </p:pic>
      <p:sp>
        <p:nvSpPr>
          <p:cNvPr id="65" name="圆角矩形 64"/>
          <p:cNvSpPr>
            <a:spLocks noGrp="1"/>
          </p:cNvSpPr>
          <p:nvPr/>
        </p:nvSpPr>
        <p:spPr>
          <a:xfrm>
            <a:off x="952500" y="4648200"/>
            <a:ext cx="3048000" cy="1581150"/>
          </a:xfrm>
          <a:prstGeom prst="roundRect">
            <a:avLst>
              <a:gd name="adj" fmla="val 7229"/>
            </a:avLst>
          </a:prstGeom>
          <a:noFill/>
          <a:ln w="9525">
            <a:solidFill>
              <a:srgbClr val="AFC4D2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4343400" y="2400300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已完成的模型要素</a:t>
            </a:r>
            <a:endParaRPr sz="16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4343400" y="2838450"/>
            <a:ext cx="3714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• UR5e 六轴机械臂与完整外观网格</a:t>
            </a:r>
            <a:endParaRPr sz="124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• AG95 平行夹具运动链和夹持端</a:t>
            </a:r>
            <a:endParaRPr sz="124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• 末端固定硬盘代理体参与碰撞检查</a:t>
            </a:r>
            <a:endParaRPr sz="124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• 4列×3行机架与12个盘位几何</a:t>
            </a:r>
            <a:endParaRPr sz="124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• slot_00～slot_11 的 entry / goal 坐标</a:t>
            </a:r>
            <a:endParaRPr sz="124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4343400" y="4410075"/>
            <a:ext cx="876300" cy="276225"/>
          </a:xfrm>
          <a:prstGeom prst="roundRect">
            <a:avLst>
              <a:gd name="adj" fmla="val 41379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defRPr sz="9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已验证</a:t>
            </a:r>
            <a:endParaRPr sz="97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5277485" y="444817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URDF、MuJoCo 与 MoveIt 关节契约和初始坐标对齐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8420100" y="24003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12盘位坐标示意</a:t>
            </a:r>
            <a:endParaRPr sz="15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8401050" y="291465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00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9039225" y="291465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01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9677400" y="291465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02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10315575" y="291465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03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8401050" y="346710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04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39225" y="346710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05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9677400" y="346710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06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0315575" y="346710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07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8401050" y="401955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08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039225" y="4019550"/>
            <a:ext cx="590550" cy="504825"/>
          </a:xfrm>
          <a:prstGeom prst="rect">
            <a:avLst/>
          </a:prstGeom>
          <a:solidFill>
            <a:srgbClr val="FFF1DF"/>
          </a:solidFill>
          <a:ln w="11430">
            <a:solidFill>
              <a:srgbClr val="E89332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09</a:t>
            </a:r>
            <a:endParaRPr sz="90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677400" y="401955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10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0315575" y="4019550"/>
            <a:ext cx="590550" cy="504825"/>
          </a:xfrm>
          <a:prstGeom prst="rect">
            <a:avLst/>
          </a:prstGeom>
          <a:solidFill>
            <a:srgbClr val="EAF4FB"/>
          </a:solidFill>
          <a:ln w="11430">
            <a:solidFill>
              <a:srgbClr val="83B5D4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slot 11</a:t>
            </a:r>
            <a:endParaRPr sz="90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248650" y="4781550"/>
            <a:ext cx="27622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6000"/>
              </a:lnSpc>
              <a:buNone/>
              <a:def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当前自动插入验证集中在 slot 09；其余盘位已建立坐标基础，尚未逐一验证。</a:t>
            </a:r>
            <a:endParaRPr sz="112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直接连接符 83"/>
          <p:cNvSpPr>
            <a:spLocks noGrp="1"/>
          </p:cNvSpPr>
          <p:nvPr/>
        </p:nvSpPr>
        <p:spPr>
          <a:xfrm>
            <a:off x="4343400" y="5657850"/>
            <a:ext cx="6667500" cy="0"/>
          </a:xfrm>
          <a:prstGeom prst="line">
            <a:avLst/>
          </a:prstGeom>
          <a:noFill/>
          <a:ln w="9525">
            <a:solidFill>
              <a:srgbClr val="C9D8E4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4343400" y="5829300"/>
            <a:ext cx="66675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72879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28796"/>
                </a:solidFill>
                <a:latin typeface="微软雅黑"/>
                <a:ea typeface="微软雅黑"/>
                <a:cs typeface="微软雅黑"/>
              </a:rPr>
              <a:t>机械图纸用途：用于说明工作空间、夹具关系、盘位编号和后续视觉标定坐标。</a:t>
            </a:r>
            <a:endParaRPr sz="1125" b="0">
              <a:solidFill>
                <a:srgbClr val="72879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36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04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+mn-ea"/>
              </a:rPr>
              <a:t>规划与控制模块：从目标位姿到轨迹执行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07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圆角矩形 61"/>
          <p:cNvSpPr>
            <a:spLocks noGrp="1"/>
          </p:cNvSpPr>
          <p:nvPr/>
        </p:nvSpPr>
        <p:spPr>
          <a:xfrm>
            <a:off x="933450" y="2571750"/>
            <a:ext cx="1466850" cy="1066800"/>
          </a:xfrm>
          <a:prstGeom prst="roundRect">
            <a:avLst>
              <a:gd name="adj" fmla="val 10714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933450" y="2571750"/>
            <a:ext cx="1466850" cy="57150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047750" y="27432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目标位姿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47750" y="30670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盘位 entry / goal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2628900" y="2571750"/>
            <a:ext cx="1466850" cy="1066800"/>
          </a:xfrm>
          <a:prstGeom prst="roundRect">
            <a:avLst>
              <a:gd name="adj" fmla="val 10714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2628900" y="2571750"/>
            <a:ext cx="1466850" cy="57150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2743200" y="27432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运动学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2743200" y="30670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KDL FK / IK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19" name="直接箭头连接符 118"/>
          <p:cNvCxnSpPr>
            <a:stCxn id="62" idx="3"/>
            <a:endCxn id="66" idx="1"/>
          </p:cNvCxnSpPr>
          <p:nvPr/>
        </p:nvCxnSpPr>
        <p:spPr>
          <a:xfrm>
            <a:off x="2400300" y="3105150"/>
            <a:ext cx="228600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71" name="圆角矩形 70"/>
          <p:cNvSpPr>
            <a:spLocks noGrp="1"/>
          </p:cNvSpPr>
          <p:nvPr/>
        </p:nvSpPr>
        <p:spPr>
          <a:xfrm>
            <a:off x="4324350" y="2571750"/>
            <a:ext cx="1466850" cy="1066800"/>
          </a:xfrm>
          <a:prstGeom prst="roundRect">
            <a:avLst>
              <a:gd name="adj" fmla="val 10714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324350" y="2571750"/>
            <a:ext cx="1466850" cy="57150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4438650" y="27432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碰撞检测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438650" y="30670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状态与路径采样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24" name="直接箭头连接符 123"/>
          <p:cNvCxnSpPr>
            <a:stCxn id="66" idx="3"/>
            <a:endCxn id="71" idx="1"/>
          </p:cNvCxnSpPr>
          <p:nvPr/>
        </p:nvCxnSpPr>
        <p:spPr>
          <a:xfrm>
            <a:off x="4095750" y="3105150"/>
            <a:ext cx="228600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76" name="圆角矩形 75"/>
          <p:cNvSpPr>
            <a:spLocks noGrp="1"/>
          </p:cNvSpPr>
          <p:nvPr/>
        </p:nvSpPr>
        <p:spPr>
          <a:xfrm>
            <a:off x="6019800" y="2571750"/>
            <a:ext cx="1466850" cy="1066800"/>
          </a:xfrm>
          <a:prstGeom prst="roundRect">
            <a:avLst>
              <a:gd name="adj" fmla="val 10714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6019800" y="2571750"/>
            <a:ext cx="1466850" cy="57150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6134100" y="27432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OMPL规划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134100" y="30670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RRTConnect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29" name="直接箭头连接符 128"/>
          <p:cNvCxnSpPr>
            <a:stCxn id="71" idx="3"/>
            <a:endCxn id="76" idx="1"/>
          </p:cNvCxnSpPr>
          <p:nvPr/>
        </p:nvCxnSpPr>
        <p:spPr>
          <a:xfrm>
            <a:off x="5791200" y="3105150"/>
            <a:ext cx="228600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81" name="圆角矩形 80"/>
          <p:cNvSpPr>
            <a:spLocks noGrp="1"/>
          </p:cNvSpPr>
          <p:nvPr/>
        </p:nvSpPr>
        <p:spPr>
          <a:xfrm>
            <a:off x="7715250" y="2571750"/>
            <a:ext cx="1466850" cy="1066800"/>
          </a:xfrm>
          <a:prstGeom prst="roundRect">
            <a:avLst>
              <a:gd name="adj" fmla="val 10714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7715250" y="2571750"/>
            <a:ext cx="1466850" cy="57150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7829550" y="27432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轨迹处理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7829550" y="30670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TOTG 时间参数化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34" name="直接箭头连接符 133"/>
          <p:cNvCxnSpPr>
            <a:stCxn id="76" idx="3"/>
            <a:endCxn id="81" idx="1"/>
          </p:cNvCxnSpPr>
          <p:nvPr/>
        </p:nvCxnSpPr>
        <p:spPr>
          <a:xfrm>
            <a:off x="7486650" y="3105150"/>
            <a:ext cx="228600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86" name="圆角矩形 85"/>
          <p:cNvSpPr>
            <a:spLocks noGrp="1"/>
          </p:cNvSpPr>
          <p:nvPr/>
        </p:nvSpPr>
        <p:spPr>
          <a:xfrm>
            <a:off x="9410700" y="2571750"/>
            <a:ext cx="1466850" cy="1066800"/>
          </a:xfrm>
          <a:prstGeom prst="roundRect">
            <a:avLst>
              <a:gd name="adj" fmla="val 10714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9410700" y="2571750"/>
            <a:ext cx="1466850" cy="57150"/>
          </a:xfrm>
          <a:prstGeom prst="rect">
            <a:avLst/>
          </a:prstGeom>
          <a:solidFill>
            <a:srgbClr val="239B70"/>
          </a:solidFill>
          <a:ln w="0">
            <a:noFill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9525000" y="27432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控制执行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9525000" y="3067050"/>
            <a:ext cx="123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FollowJointTrajectory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39" name="直接箭头连接符 138"/>
          <p:cNvCxnSpPr>
            <a:stCxn id="81" idx="3"/>
            <a:endCxn id="86" idx="1"/>
          </p:cNvCxnSpPr>
          <p:nvPr/>
        </p:nvCxnSpPr>
        <p:spPr>
          <a:xfrm>
            <a:off x="9182100" y="3105150"/>
            <a:ext cx="228600" cy="0"/>
          </a:xfrm>
          <a:prstGeom prst="straightConnector1">
            <a:avLst/>
          </a:prstGeom>
          <a:ln w="20003">
            <a:solidFill>
              <a:srgbClr val="239B70"/>
            </a:solidFill>
            <a:prstDash val="solid"/>
            <a:tailEnd type="triangle" w="sm" len="sm"/>
          </a:ln>
        </p:spPr>
      </p:cxnSp>
      <p:sp>
        <p:nvSpPr>
          <p:cNvPr id="91" name="矩形 90"/>
          <p:cNvSpPr>
            <a:spLocks noGrp="1"/>
          </p:cNvSpPr>
          <p:nvPr/>
        </p:nvSpPr>
        <p:spPr>
          <a:xfrm>
            <a:off x="1000125" y="40195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核心模型</a:t>
            </a:r>
            <a:endParaRPr sz="15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1000125" y="4410075"/>
            <a:ext cx="4648200" cy="781050"/>
          </a:xfrm>
          <a:prstGeom prst="roundRect">
            <a:avLst>
              <a:gd name="adj" fmla="val 14634"/>
            </a:avLst>
          </a:prstGeom>
          <a:solidFill>
            <a:srgbClr val="EAF4FB"/>
          </a:solidFill>
          <a:ln w="9525">
            <a:solidFill>
              <a:srgbClr val="B6D7EA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200150" y="4552950"/>
            <a:ext cx="4248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末端位姿：  ᴮTₑ(q) = FK(q)</a:t>
            </a:r>
            <a:endParaRPr sz="13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逆运动学：  q* = IK(ᴮTₜₐᵣgₑₜ)</a:t>
            </a:r>
            <a:endParaRPr sz="13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5848350" y="4410075"/>
            <a:ext cx="4572000" cy="781050"/>
          </a:xfrm>
          <a:prstGeom prst="roundRect">
            <a:avLst>
              <a:gd name="adj" fmla="val 14634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6048375" y="4552950"/>
            <a:ext cx="4171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轨迹约束：q ∈ [qₘᵢₙ, qₘₐₓ]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时间戳严格递增，速度与加速度按比例缩放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1000125" y="5543550"/>
            <a:ext cx="1047750" cy="276225"/>
          </a:xfrm>
          <a:prstGeom prst="roundRect">
            <a:avLst>
              <a:gd name="adj" fmla="val 41379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defRPr sz="9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本阶段结果</a:t>
            </a:r>
            <a:endParaRPr sz="97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2209800" y="5562600"/>
            <a:ext cx="82105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huanpan_motion 构建成功；轨迹处理2项测试通过；已自动规划并执行到 slot_09_entry。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36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05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服务器换硬盘机器人项目两日进展汇报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03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插入问题与扰动验证：链路可运行，稳定性待验证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矩形 61"/>
          <p:cNvSpPr>
            <a:spLocks noGrp="1"/>
          </p:cNvSpPr>
          <p:nvPr/>
        </p:nvSpPr>
        <p:spPr>
          <a:xfrm>
            <a:off x="1000125" y="23622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控制逻辑</a:t>
            </a:r>
            <a:endParaRPr sz="16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1000125" y="2809875"/>
            <a:ext cx="1476375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000125" y="2809875"/>
            <a:ext cx="1476375" cy="57150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1114425" y="2981325"/>
            <a:ext cx="12477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接触力提取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1114425" y="3305175"/>
            <a:ext cx="12477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末端接触力与力矩</a:t>
            </a: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2790825" y="2809875"/>
            <a:ext cx="1476375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2790825" y="2809875"/>
            <a:ext cx="1476375" cy="57150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2905125" y="2981325"/>
            <a:ext cx="12477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一阶滤波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905125" y="3305175"/>
            <a:ext cx="12477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抑制瞬时尖峰</a:t>
            </a: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4581525" y="2809875"/>
            <a:ext cx="1476375" cy="1000125"/>
          </a:xfrm>
          <a:prstGeom prst="roundRect">
            <a:avLst>
              <a:gd name="adj" fmla="val 11429"/>
            </a:avLst>
          </a:prstGeom>
          <a:solidFill>
            <a:srgbClr val="FFF1DF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581525" y="2809875"/>
            <a:ext cx="1476375" cy="57150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4695825" y="2981325"/>
            <a:ext cx="12477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持续超限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4695825" y="3305175"/>
            <a:ext cx="12477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超过阈值并保持 tₜᵣᵢₚ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20" name="直接箭头连接符 119"/>
          <p:cNvCxnSpPr>
            <a:stCxn id="63" idx="3"/>
            <a:endCxn id="67" idx="1"/>
          </p:cNvCxnSpPr>
          <p:nvPr/>
        </p:nvCxnSpPr>
        <p:spPr>
          <a:xfrm>
            <a:off x="2476500" y="3309938"/>
            <a:ext cx="314325" cy="0"/>
          </a:xfrm>
          <a:prstGeom prst="straightConnector1">
            <a:avLst/>
          </a:prstGeom>
          <a:ln w="20003">
            <a:solidFill>
              <a:srgbClr val="22A9D6"/>
            </a:solidFill>
            <a:prstDash val="solid"/>
            <a:tailEnd type="triangle" w="sm" len="sm"/>
          </a:ln>
        </p:spPr>
      </p:cxnSp>
      <p:cxnSp>
        <p:nvCxnSpPr>
          <p:cNvPr id="121" name="直接箭头连接符 120"/>
          <p:cNvCxnSpPr>
            <a:stCxn id="67" idx="3"/>
            <a:endCxn id="71" idx="1"/>
          </p:cNvCxnSpPr>
          <p:nvPr/>
        </p:nvCxnSpPr>
        <p:spPr>
          <a:xfrm>
            <a:off x="4267200" y="3309938"/>
            <a:ext cx="314325" cy="0"/>
          </a:xfrm>
          <a:prstGeom prst="straightConnector1">
            <a:avLst/>
          </a:prstGeom>
          <a:ln w="20003">
            <a:solidFill>
              <a:srgbClr val="E89332"/>
            </a:solidFill>
            <a:prstDash val="solid"/>
            <a:tailEnd type="triangle" w="sm" len="sm"/>
          </a:ln>
        </p:spPr>
      </p:cxnSp>
      <p:sp>
        <p:nvSpPr>
          <p:cNvPr id="77" name="圆角矩形 76"/>
          <p:cNvSpPr>
            <a:spLocks noGrp="1"/>
          </p:cNvSpPr>
          <p:nvPr/>
        </p:nvSpPr>
        <p:spPr>
          <a:xfrm>
            <a:off x="1000125" y="4124325"/>
            <a:ext cx="5057775" cy="76200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 w="9525">
            <a:solidFill>
              <a:srgbClr val="B6D7EA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1200150" y="4276725"/>
            <a:ext cx="46577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F̄ₖ = αFₖ + (1 − α)F̄ₖ₋₁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2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触发条件：F̄ &gt; Fₗᵢₘᵢₜ 且持续时间 &gt; tₜᵣᵢₚ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1000125" y="5124450"/>
            <a:ext cx="5057775" cy="819150"/>
          </a:xfrm>
          <a:prstGeom prst="roundRect">
            <a:avLst>
              <a:gd name="adj" fmla="val 13953"/>
            </a:avLst>
          </a:prstGeom>
          <a:solidFill>
            <a:srgbClr val="EAF4FB"/>
          </a:solidFill>
          <a:ln w="9525">
            <a:solidFill>
              <a:srgbClr val="9FCDE8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1219200" y="5248275"/>
            <a:ext cx="46196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扰动已加入：OU 有色关节力矩，seed=7，scale=0.2</a:t>
            </a:r>
            <a:endParaRPr sz="120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8000"/>
              </a:lnSpc>
              <a:buNone/>
              <a:defRPr sz="12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默认关闭，启动仿真时需要显式开启。</a:t>
            </a:r>
            <a:endParaRPr sz="120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6553200" y="236220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仿真试验结果</a:t>
            </a:r>
            <a:endParaRPr sz="16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6553200" y="2819400"/>
            <a:ext cx="4000500" cy="838200"/>
          </a:xfrm>
          <a:prstGeom prst="roundRect">
            <a:avLst>
              <a:gd name="adj" fmla="val 13636"/>
            </a:avLst>
          </a:prstGeom>
          <a:solidFill>
            <a:srgbClr val="FCEAEA"/>
          </a:solidFill>
          <a:ln w="9525">
            <a:solidFill>
              <a:srgbClr val="D85555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6743700" y="2971800"/>
            <a:ext cx="11239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D8555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D85555"/>
                </a:solidFill>
                <a:latin typeface="微软雅黑"/>
                <a:ea typeface="微软雅黑"/>
                <a:cs typeface="微软雅黑"/>
              </a:rPr>
              <a:t>30.67 N</a:t>
            </a:r>
            <a:endParaRPr sz="1875" b="1">
              <a:solidFill>
                <a:srgbClr val="D8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8058150" y="2943225"/>
            <a:ext cx="2238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曾失败：力保护触发</a:t>
            </a:r>
            <a:endParaRPr sz="13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8058150" y="3276600"/>
            <a:ext cx="22383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同为 scale=0.2，中止并撤退</a:t>
            </a:r>
            <a:endParaRPr sz="10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553200" y="3848100"/>
            <a:ext cx="4000500" cy="838200"/>
          </a:xfrm>
          <a:prstGeom prst="roundRect">
            <a:avLst>
              <a:gd name="adj" fmla="val 13636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743700" y="4000500"/>
            <a:ext cx="11239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3.02 N</a:t>
            </a:r>
            <a:endParaRPr sz="187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8058150" y="3971925"/>
            <a:ext cx="2238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通过 #1</a:t>
            </a:r>
            <a:endParaRPr sz="13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8058150" y="4305300"/>
            <a:ext cx="22383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重新对齐后完成插入</a:t>
            </a:r>
            <a:endParaRPr sz="10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6553200" y="4876800"/>
            <a:ext cx="4000500" cy="838200"/>
          </a:xfrm>
          <a:prstGeom prst="roundRect">
            <a:avLst>
              <a:gd name="adj" fmla="val 13636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6743700" y="5029200"/>
            <a:ext cx="11239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2.81 N</a:t>
            </a:r>
            <a:endParaRPr sz="187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8058150" y="5000625"/>
            <a:ext cx="2238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通过 #2</a:t>
            </a:r>
            <a:endParaRPr sz="13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8058150" y="5334000"/>
            <a:ext cx="22383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相同扰动配置下重复通过</a:t>
            </a:r>
            <a:endParaRPr sz="10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36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06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+mn-ea"/>
              </a:rPr>
              <a:t>视觉模块：D435数据链路与YOLO试验结果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0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81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3"/>
          <a:srcRect t="5978" b="5978"/>
          <a:stretch>
            <a:fillRect/>
          </a:stretch>
        </p:blipFill>
        <p:spPr>
          <a:xfrm>
            <a:off x="933450" y="2400300"/>
            <a:ext cx="5476875" cy="3638550"/>
          </a:xfrm>
          <a:prstGeom prst="roundRect">
            <a:avLst>
              <a:gd name="adj" fmla="val 3141"/>
            </a:avLst>
          </a:prstGeom>
        </p:spPr>
      </p:pic>
      <p:sp>
        <p:nvSpPr>
          <p:cNvPr id="63" name="圆角矩形 62"/>
          <p:cNvSpPr>
            <a:spLocks noGrp="1"/>
          </p:cNvSpPr>
          <p:nvPr/>
        </p:nvSpPr>
        <p:spPr>
          <a:xfrm>
            <a:off x="933450" y="2400300"/>
            <a:ext cx="5476875" cy="3638550"/>
          </a:xfrm>
          <a:prstGeom prst="roundRect">
            <a:avLst>
              <a:gd name="adj" fmla="val 3141"/>
            </a:avLst>
          </a:prstGeom>
          <a:noFill/>
          <a:ln w="9525">
            <a:solidFill>
              <a:srgbClr val="AFC4D2"/>
            </a:solidFill>
            <a:prstDash val="solid"/>
          </a:ln>
        </p:spPr>
      </p:sp>
      <p:pic>
        <p:nvPicPr>
          <p:cNvPr id="87" name="图片 86"/>
          <p:cNvPicPr>
            <a:picLocks noChangeAspect="1"/>
          </p:cNvPicPr>
          <p:nvPr/>
        </p:nvPicPr>
        <p:blipFill>
          <a:blip r:embed="rId4"/>
          <a:srcRect t="1389" b="1389"/>
          <a:stretch>
            <a:fillRect/>
          </a:stretch>
        </p:blipFill>
        <p:spPr>
          <a:xfrm>
            <a:off x="6648450" y="2400300"/>
            <a:ext cx="4114800" cy="2000250"/>
          </a:xfrm>
          <a:prstGeom prst="roundRect">
            <a:avLst>
              <a:gd name="adj" fmla="val 5714"/>
            </a:avLst>
          </a:prstGeom>
        </p:spPr>
      </p:pic>
      <p:sp>
        <p:nvSpPr>
          <p:cNvPr id="65" name="圆角矩形 64"/>
          <p:cNvSpPr>
            <a:spLocks noGrp="1"/>
          </p:cNvSpPr>
          <p:nvPr/>
        </p:nvSpPr>
        <p:spPr>
          <a:xfrm>
            <a:off x="6648450" y="2400300"/>
            <a:ext cx="4114800" cy="2000250"/>
          </a:xfrm>
          <a:prstGeom prst="roundRect">
            <a:avLst>
              <a:gd name="adj" fmla="val 5714"/>
            </a:avLst>
          </a:prstGeom>
          <a:noFill/>
          <a:ln w="9525">
            <a:solidFill>
              <a:srgbClr val="AFC4D2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6648450" y="4581525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当前数据</a:t>
            </a:r>
            <a:endParaRPr sz="15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648450" y="4943475"/>
            <a:ext cx="1857375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30 张 D435 图像</a:t>
            </a:r>
            <a:endParaRPr sz="116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8000"/>
              </a:lnSpc>
              <a:buNone/>
              <a:def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9 张人工标注</a:t>
            </a:r>
            <a:endParaRPr sz="116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8000"/>
              </a:lnSpc>
              <a:buNone/>
              <a:def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8 张训练 + 1 张验证</a:t>
            </a:r>
            <a:endParaRPr sz="116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8000"/>
              </a:lnSpc>
              <a:buNone/>
              <a:def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YOLOv8n CPU 训练 235 轮</a:t>
            </a:r>
            <a:endParaRPr sz="116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715375" y="4581525"/>
            <a:ext cx="1952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结果与边界</a:t>
            </a:r>
            <a:endParaRPr sz="15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715375" y="4943475"/>
            <a:ext cx="1952625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已标注图：8 / 9 检出</a:t>
            </a:r>
            <a:endParaRPr sz="116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8000"/>
              </a:lnSpc>
              <a:buNone/>
              <a:def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中心误差：2.53～6.70 px</a:t>
            </a:r>
            <a:endParaRPr sz="116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8000"/>
              </a:lnSpc>
              <a:buNone/>
              <a:def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未标注图：15 / 21 检出</a:t>
            </a:r>
            <a:endParaRPr sz="116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8000"/>
              </a:lnSpc>
              <a:buNone/>
              <a:def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mAP50 0.995，仅1张验证图</a:t>
            </a:r>
            <a:endParaRPr sz="116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933450" y="6115050"/>
            <a:ext cx="9829800" cy="323850"/>
          </a:xfrm>
          <a:prstGeom prst="roundRect">
            <a:avLst>
              <a:gd name="adj" fmla="val 35294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047750" y="6181725"/>
            <a:ext cx="96012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090" b="1">
                <a:solidFill>
                  <a:srgbClr val="8A5418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8A5418"/>
                </a:solidFill>
                <a:latin typeface="微软雅黑"/>
                <a:ea typeface="微软雅黑"/>
                <a:cs typeface="微软雅黑"/>
              </a:rPr>
              <a:t>当前以真实 D435 图像为主；模型可辅助预标注，但尚未输出具体槽位位姿。</a:t>
            </a:r>
            <a:endParaRPr sz="1090" b="1">
              <a:solidFill>
                <a:srgbClr val="8A541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36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07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+mn-ea"/>
              </a:rPr>
              <a:t>6D定位与视觉伺服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13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圆角矩形 61"/>
          <p:cNvSpPr>
            <a:spLocks noGrp="1"/>
          </p:cNvSpPr>
          <p:nvPr/>
        </p:nvSpPr>
        <p:spPr>
          <a:xfrm>
            <a:off x="981075" y="2352675"/>
            <a:ext cx="914400" cy="276225"/>
          </a:xfrm>
          <a:prstGeom prst="roundRect">
            <a:avLst>
              <a:gd name="adj" fmla="val 41379"/>
            </a:avLst>
          </a:prstGeom>
          <a:solidFill>
            <a:srgbClr val="FFF1DF"/>
          </a:solidFill>
          <a:ln w="9525">
            <a:solidFill>
              <a:srgbClr val="E89332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defRPr sz="97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rPr>
              <a:t>理论探索</a:t>
            </a:r>
            <a:endParaRPr sz="975" b="1">
              <a:solidFill>
                <a:srgbClr val="E893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2047875" y="2381250"/>
            <a:ext cx="819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以下链路用于指导下一阶段实现，尚未接入当前自动插入程序。</a:t>
            </a:r>
            <a:endParaRPr sz="120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942975" y="2895600"/>
            <a:ext cx="146685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42975" y="2895600"/>
            <a:ext cx="1466850" cy="57150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057275" y="30670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目标检测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057275" y="3390900"/>
            <a:ext cx="1238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Server ROI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638425" y="2895600"/>
            <a:ext cx="146685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2638425" y="2895600"/>
            <a:ext cx="1466850" cy="57150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2752725" y="30670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槽位精定位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2752725" y="3390900"/>
            <a:ext cx="1238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Keypoint / Mask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27" name="直接箭头连接符 126"/>
          <p:cNvCxnSpPr>
            <a:stCxn id="64" idx="3"/>
            <a:endCxn id="68" idx="1"/>
          </p:cNvCxnSpPr>
          <p:nvPr/>
        </p:nvCxnSpPr>
        <p:spPr>
          <a:xfrm>
            <a:off x="2409825" y="3395663"/>
            <a:ext cx="228600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73" name="圆角矩形 72"/>
          <p:cNvSpPr>
            <a:spLocks noGrp="1"/>
          </p:cNvSpPr>
          <p:nvPr/>
        </p:nvSpPr>
        <p:spPr>
          <a:xfrm>
            <a:off x="4333875" y="2895600"/>
            <a:ext cx="146685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4333875" y="2895600"/>
            <a:ext cx="1466850" cy="57150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4448175" y="30670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深度与PnP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4448175" y="3390900"/>
            <a:ext cx="1238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X Y Z 与姿态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32" name="直接箭头连接符 131"/>
          <p:cNvCxnSpPr>
            <a:stCxn id="68" idx="3"/>
            <a:endCxn id="73" idx="1"/>
          </p:cNvCxnSpPr>
          <p:nvPr/>
        </p:nvCxnSpPr>
        <p:spPr>
          <a:xfrm>
            <a:off x="4105275" y="3395663"/>
            <a:ext cx="228600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78" name="圆角矩形 77"/>
          <p:cNvSpPr>
            <a:spLocks noGrp="1"/>
          </p:cNvSpPr>
          <p:nvPr/>
        </p:nvSpPr>
        <p:spPr>
          <a:xfrm>
            <a:off x="6029325" y="2895600"/>
            <a:ext cx="146685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6029325" y="2895600"/>
            <a:ext cx="1466850" cy="57150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6143625" y="30670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手眼标定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6143625" y="3390900"/>
            <a:ext cx="1238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Camera → Robot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37" name="直接箭头连接符 136"/>
          <p:cNvCxnSpPr>
            <a:stCxn id="73" idx="3"/>
            <a:endCxn id="78" idx="1"/>
          </p:cNvCxnSpPr>
          <p:nvPr/>
        </p:nvCxnSpPr>
        <p:spPr>
          <a:xfrm>
            <a:off x="5800725" y="3395663"/>
            <a:ext cx="228600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83" name="圆角矩形 82"/>
          <p:cNvSpPr>
            <a:spLocks noGrp="1"/>
          </p:cNvSpPr>
          <p:nvPr/>
        </p:nvSpPr>
        <p:spPr>
          <a:xfrm>
            <a:off x="7724775" y="2895600"/>
            <a:ext cx="146685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7724775" y="2895600"/>
            <a:ext cx="1466850" cy="57150"/>
          </a:xfrm>
          <a:prstGeom prst="rect">
            <a:avLst/>
          </a:prstGeom>
          <a:solidFill>
            <a:srgbClr val="145CA8"/>
          </a:solidFill>
          <a:ln w="0">
            <a:noFill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7839075" y="30670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视觉伺服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839075" y="3390900"/>
            <a:ext cx="1238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PBVS / IBVS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42" name="直接箭头连接符 141"/>
          <p:cNvCxnSpPr>
            <a:stCxn id="78" idx="3"/>
            <a:endCxn id="83" idx="1"/>
          </p:cNvCxnSpPr>
          <p:nvPr/>
        </p:nvCxnSpPr>
        <p:spPr>
          <a:xfrm>
            <a:off x="7496175" y="3395663"/>
            <a:ext cx="228600" cy="0"/>
          </a:xfrm>
          <a:prstGeom prst="straightConnector1">
            <a:avLst/>
          </a:prstGeom>
          <a:ln w="2000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88" name="圆角矩形 87"/>
          <p:cNvSpPr>
            <a:spLocks noGrp="1"/>
          </p:cNvSpPr>
          <p:nvPr/>
        </p:nvSpPr>
        <p:spPr>
          <a:xfrm>
            <a:off x="9420225" y="2895600"/>
            <a:ext cx="1466850" cy="1000125"/>
          </a:xfrm>
          <a:prstGeom prst="roundRect">
            <a:avLst>
              <a:gd name="adj" fmla="val 11429"/>
            </a:avLst>
          </a:prstGeom>
          <a:solidFill>
            <a:srgbClr val="FFF1DF"/>
          </a:solidFill>
          <a:ln w="10478">
            <a:solidFill>
              <a:srgbClr val="C9D8E4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9420225" y="2895600"/>
            <a:ext cx="1466850" cy="57150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9534525" y="30670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力控插入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534525" y="3390900"/>
            <a:ext cx="1238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接触后纠偏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147" name="直接箭头连接符 146"/>
          <p:cNvCxnSpPr>
            <a:stCxn id="83" idx="3"/>
            <a:endCxn id="88" idx="1"/>
          </p:cNvCxnSpPr>
          <p:nvPr/>
        </p:nvCxnSpPr>
        <p:spPr>
          <a:xfrm>
            <a:off x="9191625" y="3395663"/>
            <a:ext cx="228600" cy="0"/>
          </a:xfrm>
          <a:prstGeom prst="straightConnector1">
            <a:avLst/>
          </a:prstGeom>
          <a:ln w="20003">
            <a:solidFill>
              <a:srgbClr val="E89332"/>
            </a:solidFill>
            <a:prstDash val="solid"/>
            <a:tailEnd type="triangle" w="sm" len="sm"/>
          </a:ln>
        </p:spPr>
      </p:cxnSp>
      <p:sp>
        <p:nvSpPr>
          <p:cNvPr id="93" name="矩形 92"/>
          <p:cNvSpPr>
            <a:spLocks noGrp="1"/>
          </p:cNvSpPr>
          <p:nvPr/>
        </p:nvSpPr>
        <p:spPr>
          <a:xfrm>
            <a:off x="1019175" y="4276725"/>
            <a:ext cx="28098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相机投影与PnP</a:t>
            </a:r>
            <a:endParaRPr sz="13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019175" y="4610100"/>
            <a:ext cx="2809875" cy="762000"/>
          </a:xfrm>
          <a:prstGeom prst="roundRect">
            <a:avLst>
              <a:gd name="adj" fmla="val 15000"/>
            </a:avLst>
          </a:prstGeom>
          <a:solidFill>
            <a:srgbClr val="EAF4FB"/>
          </a:solidFill>
          <a:ln w="9525">
            <a:solidFill>
              <a:srgbClr val="B6D7EA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1133475" y="4829175"/>
            <a:ext cx="25812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s [u v 1]ᵀ = K [R | t] [X Y Z 1]ᵀ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4267200" y="4276725"/>
            <a:ext cx="28098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手眼标定</a:t>
            </a:r>
            <a:endParaRPr sz="13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4267200" y="4610100"/>
            <a:ext cx="2809875" cy="762000"/>
          </a:xfrm>
          <a:prstGeom prst="roundRect">
            <a:avLst>
              <a:gd name="adj" fmla="val 15000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4381500" y="4752975"/>
            <a:ext cx="25812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AX = XB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2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建立相机与机器人基座变换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7515225" y="4276725"/>
            <a:ext cx="28098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图像视觉伺服</a:t>
            </a:r>
            <a:endParaRPr sz="135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7515225" y="4610100"/>
            <a:ext cx="2809875" cy="762000"/>
          </a:xfrm>
          <a:prstGeom prst="roundRect">
            <a:avLst>
              <a:gd name="adj" fmla="val 15000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7629525" y="4752975"/>
            <a:ext cx="25812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v꜀ = −λ Lₛ⁺ (s − s*)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2000"/>
              </a:lnSpc>
              <a:buNone/>
              <a:def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持续减小当前特征与目标特征误差</a:t>
            </a:r>
            <a:endParaRPr sz="124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019175" y="5600700"/>
            <a:ext cx="93059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65" b="1">
                <a:solidFill>
                  <a:srgbClr val="D85555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D85555"/>
                </a:solidFill>
                <a:latin typeface="微软雅黑"/>
                <a:ea typeface="微软雅黑"/>
                <a:cs typeface="微软雅黑"/>
              </a:rPr>
              <a:t>当前边界：仅完成服务器机组2D检测，尚未完成槽位关键点、深度定位、手眼标定和运动联调。</a:t>
            </a:r>
            <a:endParaRPr sz="1165" b="1">
              <a:solidFill>
                <a:srgbClr val="D8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1019175" y="5924550"/>
            <a:ext cx="93059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下一步：扩大真实数据集，完成槽位6D定位，再接入 huanpan_motion 与力控插入状态机。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1678</Words>
  <Application>WPS 演示</Application>
  <PresentationFormat>Converted Presentation</PresentationFormat>
  <Paragraphs>240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Arial</vt:lpstr>
      <vt:lpstr>DejaVu Sans</vt:lpstr>
      <vt:lpstr>微软雅黑</vt:lpstr>
      <vt:lpstr>Droid Sans Fallback</vt:lpstr>
      <vt:lpstr>Calibri</vt:lpstr>
      <vt:lpstr>微软雅黑</vt:lpstr>
      <vt:lpstr>宋体</vt:lpstr>
      <vt:lpstr>Arial Unicode MS</vt:lpstr>
      <vt:lpstr>Noto Serif CJK SC</vt:lpstr>
      <vt:lpstr>MS PGothic</vt:lpstr>
      <vt:lpstr>Gubbi</vt:lpstr>
      <vt:lpstr>汉仪叶叶相思体简</vt:lpstr>
      <vt:lpstr>FreeSerif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lzt</cp:lastModifiedBy>
  <cp:revision>1</cp:revision>
  <dcterms:created xsi:type="dcterms:W3CDTF">2026-09-16T07:28:56Z</dcterms:created>
  <dcterms:modified xsi:type="dcterms:W3CDTF">2026-09-16T07:28:56Z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0DE6B2ACE29CC6613845AA6A0E607698_42</vt:lpwstr>
  </property>
  <property fmtid="{D5CDD505-2E9C-101B-9397-08002B2CF9AE}" pid="3" name="KSOProductBuildVer">
    <vt:lpwstr>2052-12.1.2.28080</vt:lpwstr>
  </property>
</Properties>
</file>