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60" r:id="rId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本页按八个步骤说明槽口精定位链路。</a:t>
            </a:r>
          </a:p>
          <a:p>
            <a:r>
              <a:t>流程从 D435 彩色图开始，YOLOv8 给出槽口粗框，在粗框周围寻找四条边并求交得到四角点。</a:t>
            </a:r>
          </a:p>
          <a:p>
            <a:r>
              <a:t>已知槽口物理尺寸为 100 × 25 mm，IPPE PnP 计算相机坐标系下的 6D 位姿。</a:t>
            </a:r>
          </a:p>
          <a:p>
            <a:r>
              <a:t>深度平面用于检查距离和法向，最后将当前位姿与示教位姿比较，输出位置和姿态修正量。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算法实现位于 huanpan_perception/fine_localization.py。平面目标采用 SOLVEPNP_IPPE；深度拟合用于距离与法向交叉校验。当前 target_slot 参数尚未完成服务器区域到指定单槽 ROI 的几何解析。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本页展示精定位算法初期运行效果，两个视频均直接嵌入演示文稿。</a:t>
            </a:r>
          </a:p>
          <a:p>
            <a:r>
              <a:t>左侧视频出现 NO DETECTION，说明相机偏离合适视角或距离后，粗检测无法持续输出。</a:t>
            </a:r>
          </a:p>
          <a:p>
            <a:r>
              <a:t>右侧视频能够检测到目标，但重投影误差超过 2 px，位姿结果未通过质量门限。</a:t>
            </a:r>
          </a:p>
          <a:p>
            <a:r>
              <a:t>当时调试图像约 4.7 FPS，后续已针对发布链路和 GPU 推理继续优化。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参考位姿来自 outputs/perception/references/slot_references.yaml，重投影误差 1.516 px。实时日志多次出现 edge quality 低于 0.18、reprojection error 高于 2 px 以及 not enough vertical edge points，因此不宣称稳定定位完成。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尾页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.png"/><Relationship Id="rId7" Type="http://schemas.microsoft.com/office/2007/relationships/media" Target="../media/media2.mp4"/><Relationship Id="rId6" Type="http://schemas.openxmlformats.org/officeDocument/2006/relationships/video" Target="../media/media2.mp4"/><Relationship Id="rId5" Type="http://schemas.openxmlformats.org/officeDocument/2006/relationships/image" Target="../media/image6.png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lang="en-US" sz="3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服务器换硬盘机器人项目进展汇报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68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26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本周重点：槽口精定位技术路线与六维位姿输出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23" name="矩形 122"/>
          <p:cNvSpPr>
            <a:spLocks noGrp="1"/>
          </p:cNvSpPr>
          <p:nvPr/>
        </p:nvSpPr>
        <p:spPr>
          <a:xfrm>
            <a:off x="1028700" y="2362200"/>
            <a:ext cx="9410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当前链路从 D435 彩色图开始，完成槽口四角与 6D 位姿计算，再用深度平面和示教位姿检查结果。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1104900" y="4648200"/>
            <a:ext cx="1047750" cy="276225"/>
          </a:xfrm>
          <a:prstGeom prst="rect">
            <a:avLst/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  <p:txBody>
          <a:bodyPr lIns="47625" tIns="19050" rIns="47625" bIns="19050" anchor="ctr">
            <a:noAutofit/>
          </a:bodyPr>
          <a:lstStyle/>
          <a:p>
            <a:pPr algn="ctr">
              <a:lnSpc>
                <a:spcPct val="114000"/>
              </a:lnSpc>
              <a:buNone/>
              <a:defRPr sz="101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本周完成</a:t>
            </a:r>
            <a:endParaRPr sz="1015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4" name="矩形 143"/>
          <p:cNvSpPr>
            <a:spLocks noGrp="1"/>
          </p:cNvSpPr>
          <p:nvPr/>
        </p:nvSpPr>
        <p:spPr>
          <a:xfrm>
            <a:off x="2305050" y="46767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35 组 RGB-D 数据、精细定位 ROS 2 节点</a:t>
            </a:r>
            <a:endParaRPr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5" name="矩形 144"/>
          <p:cNvSpPr>
            <a:spLocks noGrp="1"/>
          </p:cNvSpPr>
          <p:nvPr/>
        </p:nvSpPr>
        <p:spPr>
          <a:xfrm>
            <a:off x="1104900" y="5095875"/>
            <a:ext cx="1047750" cy="276225"/>
          </a:xfrm>
          <a:prstGeom prst="rect">
            <a:avLst/>
          </a:prstGeom>
          <a:solidFill>
            <a:srgbClr val="FFF1DF"/>
          </a:solidFill>
          <a:ln w="9525">
            <a:solidFill>
              <a:srgbClr val="E89332"/>
            </a:solidFill>
            <a:prstDash val="solid"/>
          </a:ln>
        </p:spPr>
        <p:txBody>
          <a:bodyPr lIns="47625" tIns="19050" rIns="47625" bIns="19050" anchor="ctr">
            <a:noAutofit/>
          </a:bodyPr>
          <a:lstStyle/>
          <a:p>
            <a:pPr algn="ctr">
              <a:lnSpc>
                <a:spcPct val="114000"/>
              </a:lnSpc>
              <a:buNone/>
              <a:defRPr sz="101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rPr>
              <a:t>当前判断</a:t>
            </a:r>
            <a:endParaRPr sz="1015" b="1">
              <a:solidFill>
                <a:srgbClr val="E893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6" name="矩形 145"/>
          <p:cNvSpPr>
            <a:spLocks noGrp="1"/>
          </p:cNvSpPr>
          <p:nvPr/>
        </p:nvSpPr>
        <p:spPr>
          <a:xfrm>
            <a:off x="2305050" y="512445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已获得单帧六维位姿，连续稳定定位、手眼标定和机械臂闭环仍待完成</a:t>
            </a:r>
            <a:endParaRPr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7" name="直接连接符 146"/>
          <p:cNvSpPr>
            <a:spLocks noGrp="1"/>
          </p:cNvSpPr>
          <p:nvPr/>
        </p:nvSpPr>
        <p:spPr>
          <a:xfrm>
            <a:off x="1028700" y="5562600"/>
            <a:ext cx="9410700" cy="0"/>
          </a:xfrm>
          <a:prstGeom prst="line">
            <a:avLst/>
          </a:prstGeom>
          <a:noFill/>
          <a:ln w="9525">
            <a:solidFill>
              <a:srgbClr val="C9D8E4"/>
            </a:solidFill>
            <a:prstDash val="solid"/>
          </a:ln>
        </p:spPr>
      </p:sp>
      <p:sp>
        <p:nvSpPr>
          <p:cNvPr id="148" name="矩形 147"/>
          <p:cNvSpPr>
            <a:spLocks noGrp="1"/>
          </p:cNvSpPr>
          <p:nvPr/>
        </p:nvSpPr>
        <p:spPr>
          <a:xfrm>
            <a:off x="1028700" y="5743575"/>
            <a:ext cx="94107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23658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3658D"/>
                </a:solidFill>
                <a:latin typeface="微软雅黑"/>
                <a:ea typeface="微软雅黑"/>
                <a:cs typeface="微软雅黑"/>
              </a:rPr>
              <a:t>最终输出定义在 camera_color_optical_frame，位置为 X、Y、Z，姿态为 Rx、Ry、Rz</a:t>
            </a:r>
            <a:endParaRPr sz="1200" b="1">
              <a:solidFill>
                <a:srgbClr val="2365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1028700" y="27813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20" name="矩形 219"/>
          <p:cNvSpPr>
            <a:spLocks noGrp="1"/>
          </p:cNvSpPr>
          <p:nvPr/>
        </p:nvSpPr>
        <p:spPr>
          <a:xfrm>
            <a:off x="1028700" y="2781300"/>
            <a:ext cx="1952625" cy="47625"/>
          </a:xfrm>
          <a:prstGeom prst="rect">
            <a:avLst/>
          </a:prstGeom>
          <a:solidFill>
            <a:srgbClr val="28B8D4"/>
          </a:solidFill>
          <a:ln w="0">
            <a:noFill/>
          </a:ln>
        </p:spPr>
      </p:sp>
      <p:sp>
        <p:nvSpPr>
          <p:cNvPr id="221" name="矩形 220"/>
          <p:cNvSpPr>
            <a:spLocks noGrp="1"/>
          </p:cNvSpPr>
          <p:nvPr/>
        </p:nvSpPr>
        <p:spPr>
          <a:xfrm>
            <a:off x="1123950" y="28956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01  D435 彩色图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1143000" y="31623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输入 RGB 图像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3" name="圆角矩形 222"/>
          <p:cNvSpPr>
            <a:spLocks noGrp="1"/>
          </p:cNvSpPr>
          <p:nvPr/>
        </p:nvSpPr>
        <p:spPr>
          <a:xfrm>
            <a:off x="3429000" y="27813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24" name="矩形 223"/>
          <p:cNvSpPr>
            <a:spLocks noGrp="1"/>
          </p:cNvSpPr>
          <p:nvPr/>
        </p:nvSpPr>
        <p:spPr>
          <a:xfrm>
            <a:off x="3429000" y="2781300"/>
            <a:ext cx="1952625" cy="47625"/>
          </a:xfrm>
          <a:prstGeom prst="rect">
            <a:avLst/>
          </a:prstGeom>
          <a:solidFill>
            <a:srgbClr val="2082C4"/>
          </a:solidFill>
          <a:ln w="0">
            <a:noFill/>
          </a:ln>
        </p:spPr>
      </p:sp>
      <p:sp>
        <p:nvSpPr>
          <p:cNvPr id="225" name="矩形 224"/>
          <p:cNvSpPr>
            <a:spLocks noGrp="1"/>
          </p:cNvSpPr>
          <p:nvPr/>
        </p:nvSpPr>
        <p:spPr>
          <a:xfrm>
            <a:off x="3524250" y="28956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02  YOLOv8 粗检测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3543300" y="31623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检测槽口粗框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5829300" y="27813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28" name="矩形 227"/>
          <p:cNvSpPr>
            <a:spLocks noGrp="1"/>
          </p:cNvSpPr>
          <p:nvPr/>
        </p:nvSpPr>
        <p:spPr>
          <a:xfrm>
            <a:off x="5829300" y="2781300"/>
            <a:ext cx="1952625" cy="47625"/>
          </a:xfrm>
          <a:prstGeom prst="rect">
            <a:avLst/>
          </a:prstGeom>
          <a:solidFill>
            <a:srgbClr val="F39A35"/>
          </a:solidFill>
          <a:ln w="0">
            <a:noFill/>
          </a:ln>
        </p:spPr>
      </p:sp>
      <p:sp>
        <p:nvSpPr>
          <p:cNvPr id="229" name="矩形 228"/>
          <p:cNvSpPr>
            <a:spLocks noGrp="1"/>
          </p:cNvSpPr>
          <p:nvPr/>
        </p:nvSpPr>
        <p:spPr>
          <a:xfrm>
            <a:off x="5924550" y="28956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03  粗框四周寻边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5943600" y="31623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寻找四条槽口边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8229600" y="27813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32" name="矩形 231"/>
          <p:cNvSpPr>
            <a:spLocks noGrp="1"/>
          </p:cNvSpPr>
          <p:nvPr/>
        </p:nvSpPr>
        <p:spPr>
          <a:xfrm>
            <a:off x="8229600" y="2781300"/>
            <a:ext cx="1952625" cy="47625"/>
          </a:xfrm>
          <a:prstGeom prst="rect">
            <a:avLst/>
          </a:prstGeom>
          <a:solidFill>
            <a:srgbClr val="F39A35"/>
          </a:solidFill>
          <a:ln w="0">
            <a:noFill/>
          </a:ln>
        </p:spPr>
      </p:sp>
      <p:sp>
        <p:nvSpPr>
          <p:cNvPr id="233" name="矩形 232"/>
          <p:cNvSpPr>
            <a:spLocks noGrp="1"/>
          </p:cNvSpPr>
          <p:nvPr/>
        </p:nvSpPr>
        <p:spPr>
          <a:xfrm>
            <a:off x="8324850" y="28956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04  四条边求交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4" name="矩形 233"/>
          <p:cNvSpPr>
            <a:spLocks noGrp="1"/>
          </p:cNvSpPr>
          <p:nvPr/>
        </p:nvSpPr>
        <p:spPr>
          <a:xfrm>
            <a:off x="8343900" y="31623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得到四个角点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5" name="圆角矩形 234"/>
          <p:cNvSpPr>
            <a:spLocks noGrp="1"/>
          </p:cNvSpPr>
          <p:nvPr/>
        </p:nvSpPr>
        <p:spPr>
          <a:xfrm>
            <a:off x="8229600" y="37719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36" name="矩形 235"/>
          <p:cNvSpPr>
            <a:spLocks noGrp="1"/>
          </p:cNvSpPr>
          <p:nvPr/>
        </p:nvSpPr>
        <p:spPr>
          <a:xfrm>
            <a:off x="8229600" y="3771900"/>
            <a:ext cx="1952625" cy="47625"/>
          </a:xfrm>
          <a:prstGeom prst="rect">
            <a:avLst/>
          </a:prstGeom>
          <a:solidFill>
            <a:srgbClr val="15569A"/>
          </a:solidFill>
          <a:ln w="0">
            <a:noFill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8324850" y="38862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05  已知尺寸约束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8343900" y="41529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槽口 100 × 25 mm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9" name="圆角矩形 238"/>
          <p:cNvSpPr>
            <a:spLocks noGrp="1"/>
          </p:cNvSpPr>
          <p:nvPr/>
        </p:nvSpPr>
        <p:spPr>
          <a:xfrm>
            <a:off x="5829300" y="37719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829300" y="3771900"/>
            <a:ext cx="1952625" cy="47625"/>
          </a:xfrm>
          <a:prstGeom prst="rect">
            <a:avLst/>
          </a:prstGeom>
          <a:solidFill>
            <a:srgbClr val="2A9B72"/>
          </a:solidFill>
          <a:ln w="0">
            <a:noFill/>
          </a:ln>
        </p:spPr>
      </p:sp>
      <p:sp>
        <p:nvSpPr>
          <p:cNvPr id="241" name="矩形 240"/>
          <p:cNvSpPr>
            <a:spLocks noGrp="1"/>
          </p:cNvSpPr>
          <p:nvPr/>
        </p:nvSpPr>
        <p:spPr>
          <a:xfrm>
            <a:off x="5924550" y="38862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06  IPPE PnP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2" name="矩形 241"/>
          <p:cNvSpPr>
            <a:spLocks noGrp="1"/>
          </p:cNvSpPr>
          <p:nvPr/>
        </p:nvSpPr>
        <p:spPr>
          <a:xfrm>
            <a:off x="5943600" y="41529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计算槽口 6D 位姿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3" name="圆角矩形 242"/>
          <p:cNvSpPr>
            <a:spLocks noGrp="1"/>
          </p:cNvSpPr>
          <p:nvPr/>
        </p:nvSpPr>
        <p:spPr>
          <a:xfrm>
            <a:off x="3429000" y="37719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44" name="矩形 243"/>
          <p:cNvSpPr>
            <a:spLocks noGrp="1"/>
          </p:cNvSpPr>
          <p:nvPr/>
        </p:nvSpPr>
        <p:spPr>
          <a:xfrm>
            <a:off x="3429000" y="3771900"/>
            <a:ext cx="1952625" cy="47625"/>
          </a:xfrm>
          <a:prstGeom prst="rect">
            <a:avLst/>
          </a:prstGeom>
          <a:solidFill>
            <a:srgbClr val="28B8D4"/>
          </a:solidFill>
          <a:ln w="0">
            <a:noFill/>
          </a:ln>
        </p:spPr>
      </p:sp>
      <p:sp>
        <p:nvSpPr>
          <p:cNvPr id="245" name="矩形 244"/>
          <p:cNvSpPr>
            <a:spLocks noGrp="1"/>
          </p:cNvSpPr>
          <p:nvPr/>
        </p:nvSpPr>
        <p:spPr>
          <a:xfrm>
            <a:off x="3524250" y="38862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07  深度平面检查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6" name="矩形 245"/>
          <p:cNvSpPr>
            <a:spLocks noGrp="1"/>
          </p:cNvSpPr>
          <p:nvPr/>
        </p:nvSpPr>
        <p:spPr>
          <a:xfrm>
            <a:off x="3543300" y="41529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检查距离与法向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7" name="圆角矩形 246"/>
          <p:cNvSpPr>
            <a:spLocks noGrp="1"/>
          </p:cNvSpPr>
          <p:nvPr/>
        </p:nvSpPr>
        <p:spPr>
          <a:xfrm>
            <a:off x="1028700" y="37719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48" name="矩形 247"/>
          <p:cNvSpPr>
            <a:spLocks noGrp="1"/>
          </p:cNvSpPr>
          <p:nvPr/>
        </p:nvSpPr>
        <p:spPr>
          <a:xfrm>
            <a:off x="1028700" y="3771900"/>
            <a:ext cx="1952625" cy="47625"/>
          </a:xfrm>
          <a:prstGeom prst="rect">
            <a:avLst/>
          </a:prstGeom>
          <a:solidFill>
            <a:srgbClr val="2A9B72"/>
          </a:solidFill>
          <a:ln w="0">
            <a:noFill/>
          </a:ln>
        </p:spPr>
      </p:sp>
      <p:sp>
        <p:nvSpPr>
          <p:cNvPr id="249" name="矩形 248"/>
          <p:cNvSpPr>
            <a:spLocks noGrp="1"/>
          </p:cNvSpPr>
          <p:nvPr/>
        </p:nvSpPr>
        <p:spPr>
          <a:xfrm>
            <a:off x="1123950" y="38862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08  示教位姿比较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0" name="矩形 249"/>
          <p:cNvSpPr>
            <a:spLocks noGrp="1"/>
          </p:cNvSpPr>
          <p:nvPr/>
        </p:nvSpPr>
        <p:spPr>
          <a:xfrm>
            <a:off x="1143000" y="41529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计算位置与姿态误差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1" name="右箭头 250"/>
          <p:cNvSpPr>
            <a:spLocks noGrp="1"/>
          </p:cNvSpPr>
          <p:nvPr/>
        </p:nvSpPr>
        <p:spPr>
          <a:xfrm>
            <a:off x="3028950" y="3076575"/>
            <a:ext cx="352425" cy="152400"/>
          </a:xfrm>
          <a:prstGeom prst="rightArrow">
            <a:avLst/>
          </a:prstGeom>
          <a:solidFill>
            <a:srgbClr val="2082C4"/>
          </a:solidFill>
          <a:ln w="0">
            <a:noFill/>
          </a:ln>
        </p:spPr>
      </p:sp>
      <p:sp>
        <p:nvSpPr>
          <p:cNvPr id="252" name="右箭头 251"/>
          <p:cNvSpPr>
            <a:spLocks noGrp="1"/>
          </p:cNvSpPr>
          <p:nvPr/>
        </p:nvSpPr>
        <p:spPr>
          <a:xfrm>
            <a:off x="5429250" y="3076575"/>
            <a:ext cx="352425" cy="152400"/>
          </a:xfrm>
          <a:prstGeom prst="rightArrow">
            <a:avLst/>
          </a:prstGeom>
          <a:solidFill>
            <a:srgbClr val="F39A35"/>
          </a:solidFill>
          <a:ln w="0">
            <a:noFill/>
          </a:ln>
        </p:spPr>
      </p:sp>
      <p:sp>
        <p:nvSpPr>
          <p:cNvPr id="253" name="右箭头 252"/>
          <p:cNvSpPr>
            <a:spLocks noGrp="1"/>
          </p:cNvSpPr>
          <p:nvPr/>
        </p:nvSpPr>
        <p:spPr>
          <a:xfrm>
            <a:off x="7829550" y="3076575"/>
            <a:ext cx="352425" cy="152400"/>
          </a:xfrm>
          <a:prstGeom prst="rightArrow">
            <a:avLst/>
          </a:prstGeom>
          <a:solidFill>
            <a:srgbClr val="F39A35"/>
          </a:solidFill>
          <a:ln w="0">
            <a:noFill/>
          </a:ln>
        </p:spPr>
      </p:sp>
      <p:sp>
        <p:nvSpPr>
          <p:cNvPr id="254" name="下箭头 253"/>
          <p:cNvSpPr>
            <a:spLocks noGrp="1"/>
          </p:cNvSpPr>
          <p:nvPr/>
        </p:nvSpPr>
        <p:spPr>
          <a:xfrm>
            <a:off x="9124950" y="3562350"/>
            <a:ext cx="161925" cy="171450"/>
          </a:xfrm>
          <a:prstGeom prst="downArrow">
            <a:avLst/>
          </a:prstGeom>
          <a:solidFill>
            <a:srgbClr val="15569A"/>
          </a:solidFill>
          <a:ln w="0">
            <a:noFill/>
          </a:ln>
        </p:spPr>
      </p:sp>
      <p:sp>
        <p:nvSpPr>
          <p:cNvPr id="255" name="左箭头 254"/>
          <p:cNvSpPr>
            <a:spLocks noGrp="1"/>
          </p:cNvSpPr>
          <p:nvPr/>
        </p:nvSpPr>
        <p:spPr>
          <a:xfrm>
            <a:off x="7829550" y="4067175"/>
            <a:ext cx="352425" cy="152400"/>
          </a:xfrm>
          <a:prstGeom prst="leftArrow">
            <a:avLst/>
          </a:prstGeom>
          <a:solidFill>
            <a:srgbClr val="2A9B72"/>
          </a:solidFill>
          <a:ln w="0">
            <a:noFill/>
          </a:ln>
        </p:spPr>
      </p:sp>
      <p:sp>
        <p:nvSpPr>
          <p:cNvPr id="256" name="左箭头 255"/>
          <p:cNvSpPr>
            <a:spLocks noGrp="1"/>
          </p:cNvSpPr>
          <p:nvPr/>
        </p:nvSpPr>
        <p:spPr>
          <a:xfrm>
            <a:off x="5429250" y="4067175"/>
            <a:ext cx="352425" cy="152400"/>
          </a:xfrm>
          <a:prstGeom prst="leftArrow">
            <a:avLst/>
          </a:prstGeom>
          <a:solidFill>
            <a:srgbClr val="28B8D4"/>
          </a:solidFill>
          <a:ln w="0">
            <a:noFill/>
          </a:ln>
        </p:spPr>
      </p:sp>
      <p:sp>
        <p:nvSpPr>
          <p:cNvPr id="257" name="左箭头 256"/>
          <p:cNvSpPr>
            <a:spLocks noGrp="1"/>
          </p:cNvSpPr>
          <p:nvPr/>
        </p:nvSpPr>
        <p:spPr>
          <a:xfrm>
            <a:off x="3028950" y="4067175"/>
            <a:ext cx="352425" cy="152400"/>
          </a:xfrm>
          <a:prstGeom prst="leftArrow">
            <a:avLst/>
          </a:prstGeom>
          <a:solidFill>
            <a:srgbClr val="2A9B72"/>
          </a:soli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28115" y="20701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endParaRPr lang="en-US"/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3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183004" y="224790"/>
            <a:ext cx="7955483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粗框四周寻边</a:t>
            </a:r>
            <a:r>
              <a:rPr lang="en-US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+</a:t>
            </a:r>
            <a:r>
              <a:rPr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四条边求交</a:t>
            </a:r>
            <a:r>
              <a:rPr lang="en-US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+</a:t>
            </a:r>
            <a:r>
              <a:rPr lang="en-US" altLang="zh-CN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IPPE PnP </a:t>
            </a:r>
            <a:r>
              <a:rPr lang="zh-CN" altLang="en-US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计算 6</a:t>
            </a:r>
            <a:r>
              <a:rPr lang="en-US" altLang="zh-CN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D </a:t>
            </a:r>
            <a:r>
              <a:rPr lang="zh-CN" altLang="en-US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位姿</a:t>
            </a:r>
            <a:endParaRPr lang="zh-CN" altLang="en-US" sz="2400" b="1">
              <a:solidFill>
                <a:schemeClr val="bg1"/>
              </a:solidFill>
              <a:uFillTx/>
              <a:latin typeface="微软雅黑" charset="0"/>
              <a:ea typeface="微软雅黑"/>
              <a:cs typeface="微软雅黑"/>
              <a:sym typeface="+mn-ea"/>
            </a:endParaRPr>
          </a:p>
          <a:p>
            <a:pPr>
              <a:buNone/>
            </a:pPr>
            <a:endParaRPr sz="2400" b="1">
              <a:solidFill>
                <a:schemeClr val="bg1"/>
              </a:solidFill>
              <a:uFillTx/>
              <a:latin typeface="微软雅黑" charset="0"/>
              <a:ea typeface="微软雅黑"/>
              <a:cs typeface="微软雅黑"/>
            </a:endParaRPr>
          </a:p>
          <a:p>
            <a:pPr>
              <a:buNone/>
            </a:pPr>
            <a:endParaRPr sz="2400" b="1">
              <a:solidFill>
                <a:schemeClr val="bg1"/>
              </a:solidFill>
              <a:uFillTx/>
              <a:latin typeface="微软雅黑" charset="0"/>
              <a:ea typeface="微软雅黑"/>
              <a:cs typeface="微软雅黑"/>
            </a:endParaRPr>
          </a:p>
        </p:txBody>
      </p:sp>
      <p:pic>
        <p:nvPicPr>
          <p:cNvPr id="321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322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54380" y="1080770"/>
            <a:ext cx="2981960" cy="51657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790575" y="1137285"/>
                <a:ext cx="2925445" cy="3876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中心思想是根据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YOLO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框周围寻找四条边，具体流程为：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YOLO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输出粗框：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B=(x_1,y_1,x_2,y_2)</a:t>
                </a:r>
                <a:endParaRPr lang="en-US" altLang="zh-CN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在粗框四周分别建立窄条区域：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- 上边区域：(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y_1)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附近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- 下边区域：(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y_2)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附近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- 左边区域：(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x_1)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附近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- 右边区域：(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x_2)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附近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先计算图像梯度：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b>
                    </m:sSub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𝜕</m:t>
                        </m:r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𝐼</m:t>
                        </m:r>
                      </m:num>
                      <m:den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𝜕</m:t>
                        </m:r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sub>
                    </m:sSub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𝜕</m:t>
                        </m:r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𝐼</m:t>
                        </m:r>
                      </m:num>
                      <m:den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𝜕</m:t>
                        </m:r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den>
                    </m:f>
                  </m:oMath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梯度幅值：</a:t>
                </a:r>
                <a14:m>
                  <m:oMath xmlns:m="http://schemas.openxmlformats.org/officeDocument/2006/math"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𝐺</m:t>
                    </m:r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通过 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Canny、Sobel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或阈值筛选出边缘点。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然后对每组边缘点使用 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RANSAC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或最小二乘拟合直线：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ax+by+c=0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通常归一化为：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𝑏</m:t>
                        </m:r>
                      </m:e>
                      <m:sup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=1</a:t>
                </a:r>
                <a:endParaRPr lang="en-US" altLang="zh-CN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点 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,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)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到直线的距离为：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|a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+b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+c|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RANSAC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选择距离小于阈值的点作为内点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最终得到上、下、左、右四条边。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5" y="1137285"/>
                <a:ext cx="2925445" cy="3876040"/>
              </a:xfrm>
              <a:prstGeom prst="rect">
                <a:avLst/>
              </a:prstGeom>
              <a:blipFill rotWithShape="1">
                <a:blip r:embed="rId3"/>
                <a:stretch>
                  <a:fillRect r="-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4339590" y="1080770"/>
            <a:ext cx="2981960" cy="51657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462780" y="1145540"/>
                <a:ext cx="2764790" cy="4472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一条直线可以写成齐次形式：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I=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mPr>
                      <m:m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𝑎</m:t>
                          </m:r>
                        </m:e>
                      </m:mr>
                      <m:m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𝑏</m:t>
                          </m:r>
                        </m:e>
                      </m:mr>
                      <m:m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𝑐</m:t>
                          </m:r>
                        </m:e>
                      </m:mr>
                    </m:m>
                  </m:oMath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两条直线的交点为：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𝑃</m:t>
                        </m:r>
                      </m:e>
                    </m:acc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×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假设：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𝑃</m:t>
                        </m:r>
                      </m:e>
                    </m:acc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𝑦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𝑧</m:t>
                              </m:r>
                            </m:sub>
                          </m:sSub>
                        </m:e>
                      </m:mr>
                    </m:m>
                  </m:oMath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pPr algn="l"/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则图像坐标为：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u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,v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  <a:sym typeface="+mn-ea"/>
                  </a:rPr>
                  <a:t> =</a:t>
                </a: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四个角点分别为：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𝑇𝐿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𝑇𝑅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𝐵𝑅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𝐵𝐿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其中：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- TL：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左上角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- TR：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右上角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- BR：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右下角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- BL：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左下角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非齐次形式下，两条直线交点也可以写成：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当 很小时，两条直线接近平行，交点结果不可靠。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780" y="1145540"/>
                <a:ext cx="2764790" cy="447294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8150860" y="1080770"/>
            <a:ext cx="2981960" cy="51657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8150860" y="1080770"/>
                <a:ext cx="2808605" cy="5226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已知槽口尺寸：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W=100 mm,H=25 mm</a:t>
                </a:r>
                <a:endParaRPr lang="en-US" altLang="zh-CN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在槽口自身坐标系中定义四个三维角点</a:t>
                </a:r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:</a:t>
                </a:r>
                <a:endParaRPr lang="en-US" altLang="zh-CN" sz="900">
                  <a:solidFill>
                    <a:schemeClr val="bg1"/>
                  </a:solidFill>
                  <a:uFillTx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9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−𝑤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−𝐻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9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9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𝑤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𝐻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9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9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𝑤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𝐻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900">
                  <a:solidFill>
                    <a:schemeClr val="bg1"/>
                  </a:solidFill>
                  <a:uFillTx/>
                </a:endParaRPr>
              </a:p>
              <a:p>
                <a:endParaRPr lang="en-US" altLang="zh-CN" sz="900">
                  <a:solidFill>
                    <a:schemeClr val="bg1"/>
                  </a:solidFill>
                  <a:uFillTx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9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𝑤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𝐻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它们与图像中的四个角点一一对应。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相机投影模型为：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S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mP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𝑈</m:t>
                          </m:r>
                        </m:e>
                      </m:m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𝑉</m:t>
                          </m:r>
                        </m:e>
                      </m:m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=K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mP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𝑅</m:t>
                          </m:r>
                        </m:e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e>
                      </m:mr>
                    </m:m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mP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𝑋</m:t>
                          </m:r>
                        </m:e>
                      </m:m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𝑌</m:t>
                          </m:r>
                        </m:e>
                      </m:mr>
                      <m:m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900" i="1">
                                    <a:solidFill>
                                      <a:schemeClr val="bg1"/>
                                    </a:solidFill>
                                    <a:uFillTx/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𝑍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900" i="1">
                                    <a:solidFill>
                                      <a:schemeClr val="bg1"/>
                                    </a:solidFill>
                                    <a:uFillTx/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mr>
                    </m:m>
                  </m:oMath>
                </a14:m>
                <a:endParaRPr lang="en-US" altLang="zh-CN" sz="9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其中</a:t>
                </a:r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R</a:t>
                </a:r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是槽口相对于相机的旋转矩阵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t</a:t>
                </a:r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是槽口相对于相机的位置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PPE</a:t>
                </a:r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专门处理平面目标。由于平面</a:t>
                </a:r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PnP</a:t>
                </a:r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可能产生两组候选解，因此需要选择：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- 所有角点深度为正的解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- 重投影误差更小的解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- 与深度平面法向更一致的解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重投影误差为：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𝑟𝑒𝑝𝑟𝑜𝑗</m:t>
                          </m:r>
                        </m:sub>
                      </m:sSub>
                      <m:r>
                        <a:rPr lang="en-US" altLang="zh-CN" sz="9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altLang="zh-CN" sz="900" i="1">
                                      <a:solidFill>
                                        <a:schemeClr val="bg1"/>
                                      </a:solidFill>
                                      <a:uFillTx/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i="1">
                                      <a:solidFill>
                                        <a:schemeClr val="bg1"/>
                                      </a:solidFill>
                                      <a:uFillTx/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900" i="1">
                                      <a:solidFill>
                                        <a:schemeClr val="bg1"/>
                                      </a:solidFill>
                                      <a:uFillTx/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900" i="1">
                                      <a:solidFill>
                                        <a:schemeClr val="bg1"/>
                                      </a:solidFill>
                                      <a:uFillTx/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trlPr>
                                        <a:rPr lang="en-US" altLang="zh-CN" sz="900" i="1">
                                          <a:solidFill>
                                            <a:schemeClr val="bg1"/>
                                          </a:solidFill>
                                          <a:uFillTx/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900" i="1">
                                          <a:solidFill>
                                            <a:schemeClr val="bg1"/>
                                          </a:solidFill>
                                          <a:uFillTx/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900" i="1">
                                      <a:solidFill>
                                        <a:schemeClr val="bg1"/>
                                      </a:solidFill>
                                      <a:uFillTx/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||^</m:t>
                              </m:r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altLang="zh-CN" sz="9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accP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=pi(K(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900">
                        <a:solidFill>
                          <a:schemeClr val="bg1"/>
                        </a:solidFill>
                        <a:uFillTx/>
                      </a:rPr>
                      <m:t>R</m:t>
                    </m:r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𝑃</m:t>
                        </m:r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 +t)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𝑃</m:t>
                        </m:r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  <m:r>
                      <a:rPr lang="en-US" altLang="zh-CN" sz="9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为实际检测角点</m:t>
                    </m:r>
                  </m:oMath>
                </a14:m>
                <a:r>
                  <a:rPr lang="zh-CN" altLang="en-US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accP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为位姿重新投影出的角点</a:t>
                </a:r>
                <a:endParaRPr lang="zh-CN" altLang="en-US" sz="900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最终得到：</a:t>
                </a:r>
                <a:r>
                  <a:rPr lang="en-US" altLang="zh-CN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[x,y,z,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𝑟</m:t>
                        </m:r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𝑟</m:t>
                        </m:r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𝑟</m:t>
                        </m:r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]</a:t>
                </a:r>
                <a:endParaRPr lang="en-US" altLang="zh-CN" sz="900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endParaRPr lang="zh-CN" altLang="en-US" sz="900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860" y="1080770"/>
                <a:ext cx="2808605" cy="52260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初始精定位效果与暴露问题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29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13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27" name="矩形: 圆角 26"/>
          <p:cNvSpPr>
            <a:spLocks noGrp="1"/>
          </p:cNvSpPr>
          <p:nvPr/>
        </p:nvSpPr>
        <p:spPr>
          <a:xfrm>
            <a:off x="726393" y="1028700"/>
            <a:ext cx="10769470" cy="5648325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10" name="矩形 109"/>
          <p:cNvSpPr>
            <a:spLocks noGrp="1"/>
          </p:cNvSpPr>
          <p:nvPr/>
        </p:nvSpPr>
        <p:spPr>
          <a:xfrm>
            <a:off x="1009650" y="1200150"/>
            <a:ext cx="48006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初始效果 1：目标未检出</a:t>
            </a:r>
            <a:endParaRPr sz="127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6191250" y="1200150"/>
            <a:ext cx="48006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初始效果 2：位姿质量未通过</a:t>
            </a:r>
            <a:endParaRPr sz="127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971550" y="1562100"/>
            <a:ext cx="4876800" cy="3248025"/>
          </a:xfrm>
          <a:prstGeom prst="rect">
            <a:avLst/>
          </a:prstGeom>
          <a:solidFill>
            <a:srgbClr val="FFFFFF"/>
          </a:solidFill>
          <a:ln w="14288">
            <a:solidFill>
              <a:srgbClr val="28B8D4"/>
            </a:solidFill>
            <a:prstDash val="solid"/>
          </a:ln>
        </p:spPr>
      </p:sp>
      <p:sp>
        <p:nvSpPr>
          <p:cNvPr id="113" name="矩形 112"/>
          <p:cNvSpPr>
            <a:spLocks noGrp="1"/>
          </p:cNvSpPr>
          <p:nvPr/>
        </p:nvSpPr>
        <p:spPr>
          <a:xfrm>
            <a:off x="6153150" y="1562100"/>
            <a:ext cx="4876800" cy="3248025"/>
          </a:xfrm>
          <a:prstGeom prst="rect">
            <a:avLst/>
          </a:prstGeom>
          <a:solidFill>
            <a:srgbClr val="FFFFFF"/>
          </a:solidFill>
          <a:ln w="14288">
            <a:solidFill>
              <a:srgbClr val="2082C4"/>
            </a:solidFill>
            <a:prstDash val="solid"/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1009650" y="4876800"/>
            <a:ext cx="4800600" cy="4191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相机偏离合适视角或距离后，YOLO 无法持续检出槽口。</a:t>
            </a:r>
            <a:endParaRPr sz="1050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6191250" y="4876800"/>
            <a:ext cx="4800600" cy="4191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粗框能够出现，但</a:t>
            </a:r>
            <a:r>
              <a:rPr lang="zh-CN"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最终的</a:t>
            </a:r>
            <a:r>
              <a:rPr lang="en-US" altLang="zh-CN"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6D</a:t>
            </a:r>
            <a:r>
              <a:rPr lang="zh-CN" altLang="en-US"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位姿的输出值小于精度检测的标准值</a:t>
            </a:r>
            <a:r>
              <a:rPr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50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4457700" y="4524375"/>
            <a:ext cx="1238250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6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单击视频播放</a:t>
            </a:r>
            <a:endParaRPr sz="86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9639300" y="4524375"/>
            <a:ext cx="1238250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6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单击视频播放</a:t>
            </a:r>
            <a:endParaRPr sz="86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8" name="圆角矩形 117"/>
          <p:cNvSpPr>
            <a:spLocks noGrp="1"/>
          </p:cNvSpPr>
          <p:nvPr/>
        </p:nvSpPr>
        <p:spPr>
          <a:xfrm>
            <a:off x="1009650" y="5486400"/>
            <a:ext cx="9982200" cy="742950"/>
          </a:xfrm>
          <a:prstGeom prst="roundRect">
            <a:avLst>
              <a:gd name="adj" fmla="val 10256"/>
            </a:avLst>
          </a:prstGeom>
          <a:solidFill>
            <a:srgbClr val="FFF1DE"/>
          </a:solidFill>
          <a:ln w="9525">
            <a:solidFill>
              <a:srgbClr val="F39A35"/>
            </a:solidFill>
            <a:prstDash val="solid"/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1200150" y="5648325"/>
            <a:ext cx="1066800" cy="32385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39A3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39A35"/>
                </a:solidFill>
                <a:latin typeface="微软雅黑"/>
                <a:ea typeface="微软雅黑"/>
                <a:cs typeface="微软雅黑"/>
              </a:rPr>
              <a:t>初期现象</a:t>
            </a:r>
            <a:endParaRPr sz="1200" b="1">
              <a:solidFill>
                <a:srgbClr val="F39A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2381250" y="5591175"/>
            <a:ext cx="8324850" cy="4572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调试图像约 4.7 FPS。相机倾斜或距离变化时容易漏检，即使检测到目标，六维位姿也可能被质量门限拒绝。</a:t>
            </a:r>
            <a:endParaRPr sz="112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00" name="初始效果视频 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9650" y="1600200"/>
            <a:ext cx="4800600" cy="3171825"/>
          </a:xfrm>
          <a:prstGeom prst="rect">
            <a:avLst/>
          </a:prstGeom>
        </p:spPr>
      </p:pic>
      <p:pic>
        <p:nvPicPr>
          <p:cNvPr id="501" name="初始效果视频 2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91250" y="1600200"/>
            <a:ext cx="4800600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lang="en-US" sz="3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实机验证：有效位姿与当前问题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8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10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27" name="矩形: 圆角 26"/>
          <p:cNvSpPr>
            <a:spLocks noGrp="1"/>
          </p:cNvSpPr>
          <p:nvPr/>
        </p:nvSpPr>
        <p:spPr>
          <a:xfrm>
            <a:off x="726393" y="1028700"/>
            <a:ext cx="10769470" cy="5648325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74" name="矩形 73"/>
          <p:cNvSpPr>
            <a:spLocks noGrp="1"/>
          </p:cNvSpPr>
          <p:nvPr/>
        </p:nvSpPr>
        <p:spPr>
          <a:xfrm>
            <a:off x="990600" y="1362075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已保存的 slot 0 参考位姿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990600" y="1752600"/>
            <a:ext cx="4895850" cy="1600200"/>
          </a:xfrm>
          <a:prstGeom prst="roundRect">
            <a:avLst>
              <a:gd name="adj" fmla="val 7143"/>
            </a:avLst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1238250" y="200977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X  -54.6 mm</a:t>
            </a:r>
            <a:endParaRPr sz="1650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3429000" y="200977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Y  -19.2 mm</a:t>
            </a:r>
            <a:endParaRPr sz="1650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1238250" y="24574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Z  272.8 mm</a:t>
            </a:r>
            <a:endParaRPr sz="1650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3429000" y="24574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3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重投影误差  1.52 px</a:t>
            </a:r>
            <a:endParaRPr sz="1350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1238250" y="2952750"/>
            <a:ext cx="438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该记录证明实时图像到相机坐标系位姿的链路能够产生有效输出。</a:t>
            </a:r>
            <a:endParaRPr sz="105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6191250" y="136207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连续运行暴露的问题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6191250" y="1752600"/>
            <a:ext cx="4476750" cy="742950"/>
          </a:xfrm>
          <a:prstGeom prst="roundRect">
            <a:avLst>
              <a:gd name="adj" fmla="val 15385"/>
            </a:avLst>
          </a:prstGeom>
          <a:solidFill>
            <a:srgbClr val="FFF1DF"/>
          </a:solidFill>
          <a:ln w="9525">
            <a:solidFill>
              <a:srgbClr val="F4C98E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6191250" y="1752600"/>
            <a:ext cx="4476750" cy="47625"/>
          </a:xfrm>
          <a:prstGeom prst="rect">
            <a:avLst/>
          </a:prstGeom>
          <a:solidFill>
            <a:srgbClr val="E89332"/>
          </a:solidFill>
          <a:ln w="0">
            <a:noFill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6343650" y="1924050"/>
            <a:ext cx="41719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边缘质量不足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6343650" y="2257425"/>
            <a:ext cx="4171950" cy="114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部分帧低于 0.18 门限</a:t>
            </a:r>
            <a:endParaRPr sz="105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6191250" y="2647950"/>
            <a:ext cx="4476750" cy="742950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 w="9525">
            <a:solidFill>
              <a:srgbClr val="F0A8A8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6191250" y="2647950"/>
            <a:ext cx="4476750" cy="47625"/>
          </a:xfrm>
          <a:prstGeom prst="rect">
            <a:avLst/>
          </a:prstGeom>
          <a:solidFill>
            <a:srgbClr val="D85555"/>
          </a:solidFill>
          <a:ln w="0">
            <a:noFill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6343650" y="2819400"/>
            <a:ext cx="41719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重投影误差偏大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6343650" y="3152775"/>
            <a:ext cx="4171950" cy="114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多帧超过 2 px，部分达到十几像素</a:t>
            </a:r>
            <a:endParaRPr sz="105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6191250" y="3543300"/>
            <a:ext cx="4476750" cy="742950"/>
          </a:xfrm>
          <a:prstGeom prst="roundRect">
            <a:avLst>
              <a:gd name="adj" fmla="val 15385"/>
            </a:avLst>
          </a:prstGeom>
          <a:solidFill>
            <a:srgbClr val="FFF1DF"/>
          </a:solidFill>
          <a:ln w="9525">
            <a:solidFill>
              <a:srgbClr val="F4C98E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6191250" y="3543300"/>
            <a:ext cx="4476750" cy="47625"/>
          </a:xfrm>
          <a:prstGeom prst="rect">
            <a:avLst/>
          </a:prstGeom>
          <a:solidFill>
            <a:srgbClr val="E89332"/>
          </a:solidFill>
          <a:ln w="0">
            <a:noFill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6343650" y="3714750"/>
            <a:ext cx="41719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在相机处于一些偏转角度的时候识别不出来，并且识别帧数太低</a:t>
            </a:r>
            <a:endParaRPr lang="zh-CN"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6343650" y="4048125"/>
            <a:ext cx="4171950" cy="114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endParaRPr sz="105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990600" y="4591050"/>
            <a:ext cx="9677400" cy="1200150"/>
          </a:xfrm>
          <a:prstGeom prst="roundRect">
            <a:avLst>
              <a:gd name="adj" fmla="val 9524"/>
            </a:avLst>
          </a:prstGeom>
          <a:solidFill>
            <a:srgbClr val="FCEAEA"/>
          </a:solidFill>
          <a:ln w="9525">
            <a:solidFill>
              <a:srgbClr val="F0A8A8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1238250" y="4791075"/>
            <a:ext cx="927798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350" b="1">
                <a:solidFill>
                  <a:srgbClr val="D85555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350" b="1">
                <a:solidFill>
                  <a:srgbClr val="D85555"/>
                </a:solidFill>
                <a:latin typeface="微软雅黑"/>
                <a:ea typeface="微软雅黑"/>
                <a:cs typeface="微软雅黑"/>
              </a:rPr>
              <a:t>准备首先解决帧数过低的问题，然后去针对门限问题，尝试先放宽对应的数值，主要解决的还是发生一边偏转的时候识别不出的问题</a:t>
            </a:r>
            <a:endParaRPr lang="zh-CN" altLang="en-US" sz="1350" b="1">
              <a:solidFill>
                <a:srgbClr val="D8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2686050" y="4743450"/>
            <a:ext cx="76771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20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endParaRPr sz="120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990600" y="5962650"/>
            <a:ext cx="96774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090" b="0">
                <a:solidFill>
                  <a:srgbClr val="728796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728796"/>
                </a:solidFill>
                <a:latin typeface="微软雅黑"/>
                <a:ea typeface="微软雅黑"/>
                <a:cs typeface="微软雅黑"/>
              </a:rPr>
              <a:t>需要先统一粗检测对象与单槽物理模型，再进行重复性和绝对精度评估。</a:t>
            </a:r>
            <a:endParaRPr sz="1090" b="0">
              <a:solidFill>
                <a:srgbClr val="72879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1979</Words>
  <Application>WPS 演示</Application>
  <PresentationFormat>Converted Presentation</PresentationFormat>
  <Paragraphs>167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Arial</vt:lpstr>
      <vt:lpstr>Nimbus Roman No9 L</vt:lpstr>
      <vt:lpstr>微软雅黑</vt:lpstr>
      <vt:lpstr>文泉驿微米黑</vt:lpstr>
      <vt:lpstr>Calibri</vt:lpstr>
      <vt:lpstr>微软雅黑</vt:lpstr>
      <vt:lpstr>宋体</vt:lpstr>
      <vt:lpstr>Arial Unicode MS</vt:lpstr>
      <vt:lpstr>Noto Serif CJK SC</vt:lpstr>
      <vt:lpstr>DejaVu Sans</vt:lpstr>
      <vt:lpstr>微软雅黑</vt:lpstr>
      <vt:lpstr>DejaVu Math TeX Gyre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lzt</cp:lastModifiedBy>
  <cp:revision>1</cp:revision>
  <dcterms:created xsi:type="dcterms:W3CDTF">2026-09-23T08:30:15Z</dcterms:created>
  <dcterms:modified xsi:type="dcterms:W3CDTF">2026-09-23T08:30:15Z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D1810C6BB2568169178EB36A8D7CB840_42</vt:lpwstr>
  </property>
  <property fmtid="{D5CDD505-2E9C-101B-9397-08002B2CF9AE}" pid="3" name="KSOProductBuildVer">
    <vt:lpwstr>2052-12.1.2.28080</vt:lpwstr>
  </property>
</Properties>
</file>